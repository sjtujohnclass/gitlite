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28"/>
  </p:handoutMasterIdLst>
  <p:sldIdLst>
    <p:sldId id="259" r:id="rId3"/>
    <p:sldId id="1808" r:id="rId4"/>
    <p:sldId id="1756" r:id="rId5"/>
    <p:sldId id="1770" r:id="rId6"/>
    <p:sldId id="1811" r:id="rId7"/>
    <p:sldId id="1812" r:id="rId8"/>
    <p:sldId id="1813" r:id="rId10"/>
    <p:sldId id="1814" r:id="rId11"/>
    <p:sldId id="1815" r:id="rId12"/>
    <p:sldId id="1805" r:id="rId13"/>
    <p:sldId id="1816" r:id="rId14"/>
    <p:sldId id="1817" r:id="rId15"/>
    <p:sldId id="1818" r:id="rId16"/>
    <p:sldId id="1819" r:id="rId17"/>
    <p:sldId id="1806" r:id="rId18"/>
    <p:sldId id="1820" r:id="rId19"/>
    <p:sldId id="1821" r:id="rId20"/>
    <p:sldId id="1807" r:id="rId21"/>
    <p:sldId id="1825" r:id="rId22"/>
    <p:sldId id="1826" r:id="rId23"/>
    <p:sldId id="1809" r:id="rId24"/>
    <p:sldId id="1823" r:id="rId25"/>
    <p:sldId id="1827" r:id="rId26"/>
    <p:sldId id="1824" r:id="rId27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785" userDrawn="1">
          <p15:clr>
            <a:srgbClr val="A4A3A4"/>
          </p15:clr>
        </p15:guide>
        <p15:guide id="5" orient="horz" pos="1020" userDrawn="1">
          <p15:clr>
            <a:srgbClr val="A4A3A4"/>
          </p15:clr>
        </p15:guide>
        <p15:guide id="6" orient="horz" pos="1445" userDrawn="1">
          <p15:clr>
            <a:srgbClr val="A4A3A4"/>
          </p15:clr>
        </p15:guide>
        <p15:guide id="7" orient="horz" pos="3101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104" userDrawn="1">
          <p15:clr>
            <a:srgbClr val="A4A3A4"/>
          </p15:clr>
        </p15:guide>
        <p15:guide id="10" pos="5950" userDrawn="1">
          <p15:clr>
            <a:srgbClr val="A4A3A4"/>
          </p15:clr>
        </p15:guide>
        <p15:guide id="11" pos="5268" userDrawn="1">
          <p15:clr>
            <a:srgbClr val="A4A3A4"/>
          </p15:clr>
        </p15:guide>
        <p15:guide id="1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A62038"/>
    <a:srgbClr val="175F8B"/>
    <a:srgbClr val="E0CFBD"/>
    <a:srgbClr val="E8E8E8"/>
    <a:srgbClr val="F2F2F2"/>
    <a:srgbClr val="DBDBDB"/>
    <a:srgbClr val="404040"/>
    <a:srgbClr val="FEE848"/>
    <a:srgbClr val="E851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304" autoAdjust="0"/>
    <p:restoredTop sz="94289" autoAdjust="0"/>
  </p:normalViewPr>
  <p:slideViewPr>
    <p:cSldViewPr snapToGrid="0" showGuides="1">
      <p:cViewPr varScale="1">
        <p:scale>
          <a:sx n="68" d="100"/>
          <a:sy n="68" d="100"/>
        </p:scale>
        <p:origin x="42" y="489"/>
      </p:cViewPr>
      <p:guideLst>
        <p:guide pos="3785"/>
        <p:guide orient="horz" pos="1020"/>
        <p:guide orient="horz" pos="1445"/>
        <p:guide orient="horz" pos="3101"/>
        <p:guide pos="2128"/>
        <p:guide pos="4104"/>
        <p:guide pos="5950"/>
        <p:guide pos="5268"/>
        <p:guide pos="2256"/>
      </p:guideLst>
    </p:cSldViewPr>
  </p:slideViewPr>
  <p:outlineViewPr>
    <p:cViewPr>
      <p:scale>
        <a:sx n="33" d="100"/>
        <a:sy n="33" d="100"/>
      </p:scale>
      <p:origin x="0" y="-84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20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microsoft.com/office/2007/relationships/hdphoto" Target="../media/image3.wdp"/><Relationship Id="rId4" Type="http://schemas.openxmlformats.org/officeDocument/2006/relationships/image" Target="../media/image2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image16.wdp"/><Relationship Id="rId7" Type="http://schemas.openxmlformats.org/officeDocument/2006/relationships/image" Target="../media/image15.png"/><Relationship Id="rId6" Type="http://schemas.microsoft.com/office/2007/relationships/hdphoto" Target="../media/image5.wdp"/><Relationship Id="rId5" Type="http://schemas.openxmlformats.org/officeDocument/2006/relationships/image" Target="../media/image14.png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35"/>
          <a:stretch>
            <a:fillRect/>
          </a:stretch>
        </p:blipFill>
        <p:spPr>
          <a:xfrm>
            <a:off x="4878746" y="-13844"/>
            <a:ext cx="7525799" cy="6871844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" b="356"/>
          <a:stretch>
            <a:fillRect/>
          </a:stretch>
        </p:blipFill>
        <p:spPr>
          <a:xfrm>
            <a:off x="5270499" y="-13844"/>
            <a:ext cx="6921500" cy="6871844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649" y="-13843"/>
            <a:ext cx="9178350" cy="6883762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5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855" r="14757"/>
          <a:stretch>
            <a:fillRect/>
          </a:stretch>
        </p:blipFill>
        <p:spPr>
          <a:xfrm>
            <a:off x="12951" y="-13844"/>
            <a:ext cx="12179048" cy="6871844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6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" y="0"/>
            <a:ext cx="12158227" cy="6858000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/>
        </p:nvSpPr>
        <p:spPr>
          <a:xfrm>
            <a:off x="1" y="-13844"/>
            <a:ext cx="9051317" cy="68718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51317" h="6871844">
                <a:moveTo>
                  <a:pt x="0" y="0"/>
                </a:moveTo>
                <a:lnTo>
                  <a:pt x="8724495" y="0"/>
                </a:lnTo>
                <a:lnTo>
                  <a:pt x="8832115" y="466295"/>
                </a:lnTo>
                <a:cubicBezTo>
                  <a:pt x="8975839" y="1168657"/>
                  <a:pt x="9051317" y="1895878"/>
                  <a:pt x="9051317" y="2640728"/>
                </a:cubicBezTo>
                <a:cubicBezTo>
                  <a:pt x="9051317" y="4130428"/>
                  <a:pt x="8749407" y="5549614"/>
                  <a:pt x="8203435" y="6840435"/>
                </a:cubicBezTo>
                <a:lnTo>
                  <a:pt x="8189236" y="6871844"/>
                </a:lnTo>
                <a:lnTo>
                  <a:pt x="0" y="68718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1742554"/>
            <a:ext cx="7525799" cy="178991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69561" y="3748822"/>
            <a:ext cx="6933903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0" spc="3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41" y="291559"/>
            <a:ext cx="2577988" cy="847493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142749" y="5385894"/>
            <a:ext cx="2895851" cy="747975"/>
            <a:chOff x="1142749" y="5535283"/>
            <a:chExt cx="2895851" cy="7479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010"/>
          <p:cNvSpPr txBox="1"/>
          <p:nvPr userDrawn="1"/>
        </p:nvSpPr>
        <p:spPr>
          <a:xfrm>
            <a:off x="921270" y="2093253"/>
            <a:ext cx="2282428" cy="78105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83000"/>
              </a:lnSpc>
            </a:pPr>
            <a:r>
              <a:rPr lang="zh-CN" altLang="en-US" sz="6125" spc="-12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9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Object 2011"/>
          <p:cNvSpPr txBox="1"/>
          <p:nvPr userDrawn="1"/>
        </p:nvSpPr>
        <p:spPr>
          <a:xfrm>
            <a:off x="771525" y="3213440"/>
            <a:ext cx="2781300" cy="4572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/>
            <a:r>
              <a:rPr lang="en-US" altLang="zh-CN" sz="3000" spc="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9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/>
          <p:cNvSpPr/>
          <p:nvPr userDrawn="1"/>
        </p:nvSpPr>
        <p:spPr>
          <a:xfrm>
            <a:off x="-21616" y="-26544"/>
            <a:ext cx="3958617" cy="6884544"/>
          </a:xfrm>
          <a:custGeom>
            <a:avLst/>
            <a:gdLst>
              <a:gd name="connsiteX0" fmla="*/ 0 w 9051317"/>
              <a:gd name="connsiteY0" fmla="*/ 0 h 6871844"/>
              <a:gd name="connsiteX1" fmla="*/ 8724495 w 9051317"/>
              <a:gd name="connsiteY1" fmla="*/ 0 h 6871844"/>
              <a:gd name="connsiteX2" fmla="*/ 8832115 w 9051317"/>
              <a:gd name="connsiteY2" fmla="*/ 466295 h 6871844"/>
              <a:gd name="connsiteX3" fmla="*/ 9051317 w 9051317"/>
              <a:gd name="connsiteY3" fmla="*/ 2640728 h 6871844"/>
              <a:gd name="connsiteX4" fmla="*/ 8203435 w 9051317"/>
              <a:gd name="connsiteY4" fmla="*/ 6840435 h 6871844"/>
              <a:gd name="connsiteX5" fmla="*/ 8189236 w 9051317"/>
              <a:gd name="connsiteY5" fmla="*/ 6871844 h 6871844"/>
              <a:gd name="connsiteX6" fmla="*/ 0 w 9051317"/>
              <a:gd name="connsiteY6" fmla="*/ 6871844 h 6871844"/>
              <a:gd name="connsiteX7" fmla="*/ 0 w 9051317"/>
              <a:gd name="connsiteY7" fmla="*/ 0 h 6871844"/>
              <a:gd name="connsiteX0-1" fmla="*/ 5092700 w 9051317"/>
              <a:gd name="connsiteY0-2" fmla="*/ 0 h 6884544"/>
              <a:gd name="connsiteX1-3" fmla="*/ 8724495 w 9051317"/>
              <a:gd name="connsiteY1-4" fmla="*/ 12700 h 6884544"/>
              <a:gd name="connsiteX2-5" fmla="*/ 8832115 w 9051317"/>
              <a:gd name="connsiteY2-6" fmla="*/ 478995 h 6884544"/>
              <a:gd name="connsiteX3-7" fmla="*/ 9051317 w 9051317"/>
              <a:gd name="connsiteY3-8" fmla="*/ 2653428 h 6884544"/>
              <a:gd name="connsiteX4-9" fmla="*/ 8203435 w 9051317"/>
              <a:gd name="connsiteY4-10" fmla="*/ 6853135 h 6884544"/>
              <a:gd name="connsiteX5-11" fmla="*/ 8189236 w 9051317"/>
              <a:gd name="connsiteY5-12" fmla="*/ 6884544 h 6884544"/>
              <a:gd name="connsiteX6-13" fmla="*/ 0 w 9051317"/>
              <a:gd name="connsiteY6-14" fmla="*/ 6884544 h 6884544"/>
              <a:gd name="connsiteX7-15" fmla="*/ 5092700 w 9051317"/>
              <a:gd name="connsiteY7-16" fmla="*/ 0 h 6884544"/>
              <a:gd name="connsiteX0-17" fmla="*/ 0 w 3958617"/>
              <a:gd name="connsiteY0-18" fmla="*/ 0 h 6884544"/>
              <a:gd name="connsiteX1-19" fmla="*/ 3631795 w 3958617"/>
              <a:gd name="connsiteY1-20" fmla="*/ 12700 h 6884544"/>
              <a:gd name="connsiteX2-21" fmla="*/ 3739415 w 3958617"/>
              <a:gd name="connsiteY2-22" fmla="*/ 478995 h 6884544"/>
              <a:gd name="connsiteX3-23" fmla="*/ 3958617 w 3958617"/>
              <a:gd name="connsiteY3-24" fmla="*/ 2653428 h 6884544"/>
              <a:gd name="connsiteX4-25" fmla="*/ 3110735 w 3958617"/>
              <a:gd name="connsiteY4-26" fmla="*/ 6853135 h 6884544"/>
              <a:gd name="connsiteX5-27" fmla="*/ 3096536 w 3958617"/>
              <a:gd name="connsiteY5-28" fmla="*/ 6884544 h 6884544"/>
              <a:gd name="connsiteX6-29" fmla="*/ 0 w 3958617"/>
              <a:gd name="connsiteY6-30" fmla="*/ 6884544 h 6884544"/>
              <a:gd name="connsiteX7-31" fmla="*/ 0 w 3958617"/>
              <a:gd name="connsiteY7-32" fmla="*/ 0 h 68845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958617" h="6884544">
                <a:moveTo>
                  <a:pt x="0" y="0"/>
                </a:moveTo>
                <a:lnTo>
                  <a:pt x="3631795" y="12700"/>
                </a:lnTo>
                <a:lnTo>
                  <a:pt x="3739415" y="478995"/>
                </a:lnTo>
                <a:cubicBezTo>
                  <a:pt x="3883139" y="1181357"/>
                  <a:pt x="3958617" y="1908578"/>
                  <a:pt x="3958617" y="2653428"/>
                </a:cubicBezTo>
                <a:cubicBezTo>
                  <a:pt x="3958617" y="4143128"/>
                  <a:pt x="3656707" y="5562314"/>
                  <a:pt x="3110735" y="6853135"/>
                </a:cubicBezTo>
                <a:lnTo>
                  <a:pt x="3096536" y="6884544"/>
                </a:lnTo>
                <a:lnTo>
                  <a:pt x="0" y="688454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-8917" y="-26544"/>
            <a:ext cx="3670300" cy="68845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  <a:gd name="connsiteX0-1" fmla="*/ 4523504 w 7775476"/>
              <a:gd name="connsiteY0-2" fmla="*/ 0 h 6870674"/>
              <a:gd name="connsiteX1-3" fmla="*/ 7326808 w 7775476"/>
              <a:gd name="connsiteY1-4" fmla="*/ 12674 h 6870674"/>
              <a:gd name="connsiteX2-5" fmla="*/ 7370317 w 7775476"/>
              <a:gd name="connsiteY2-6" fmla="*/ 119746 h 6870674"/>
              <a:gd name="connsiteX3-7" fmla="*/ 7775476 w 7775476"/>
              <a:gd name="connsiteY3-8" fmla="*/ 2347313 h 6870674"/>
              <a:gd name="connsiteX4-9" fmla="*/ 6040912 w 7775476"/>
              <a:gd name="connsiteY4-10" fmla="*/ 6703392 h 6870674"/>
              <a:gd name="connsiteX5-11" fmla="*/ 5876541 w 7775476"/>
              <a:gd name="connsiteY5-12" fmla="*/ 6870674 h 6870674"/>
              <a:gd name="connsiteX6-13" fmla="*/ 0 w 7775476"/>
              <a:gd name="connsiteY6-14" fmla="*/ 6870674 h 6870674"/>
              <a:gd name="connsiteX7-15" fmla="*/ 4523504 w 7775476"/>
              <a:gd name="connsiteY7-16" fmla="*/ 0 h 6870674"/>
              <a:gd name="connsiteX0-17" fmla="*/ 0 w 3251972"/>
              <a:gd name="connsiteY0-18" fmla="*/ 0 h 6870674"/>
              <a:gd name="connsiteX1-19" fmla="*/ 2803304 w 3251972"/>
              <a:gd name="connsiteY1-20" fmla="*/ 12674 h 6870674"/>
              <a:gd name="connsiteX2-21" fmla="*/ 2846813 w 3251972"/>
              <a:gd name="connsiteY2-22" fmla="*/ 119746 h 6870674"/>
              <a:gd name="connsiteX3-23" fmla="*/ 3251972 w 3251972"/>
              <a:gd name="connsiteY3-24" fmla="*/ 2347313 h 6870674"/>
              <a:gd name="connsiteX4-25" fmla="*/ 1517408 w 3251972"/>
              <a:gd name="connsiteY4-26" fmla="*/ 6703392 h 6870674"/>
              <a:gd name="connsiteX5-27" fmla="*/ 1353037 w 3251972"/>
              <a:gd name="connsiteY5-28" fmla="*/ 6870674 h 6870674"/>
              <a:gd name="connsiteX6-29" fmla="*/ 0 w 3251972"/>
              <a:gd name="connsiteY6-30" fmla="*/ 6858000 h 6870674"/>
              <a:gd name="connsiteX7-31" fmla="*/ 0 w 3251972"/>
              <a:gd name="connsiteY7-32" fmla="*/ 0 h 68706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51972" h="6870674">
                <a:moveTo>
                  <a:pt x="0" y="0"/>
                </a:moveTo>
                <a:lnTo>
                  <a:pt x="2803304" y="12674"/>
                </a:lnTo>
                <a:lnTo>
                  <a:pt x="2846813" y="119746"/>
                </a:lnTo>
                <a:cubicBezTo>
                  <a:pt x="3108925" y="814337"/>
                  <a:pt x="3251972" y="1564616"/>
                  <a:pt x="3251972" y="2347313"/>
                </a:cubicBezTo>
                <a:cubicBezTo>
                  <a:pt x="3251972" y="4024521"/>
                  <a:pt x="2595123" y="5552872"/>
                  <a:pt x="1517408" y="6703392"/>
                </a:cubicBezTo>
                <a:lnTo>
                  <a:pt x="1353037" y="687067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bject 109"/>
          <p:cNvSpPr txBox="1"/>
          <p:nvPr userDrawn="1"/>
        </p:nvSpPr>
        <p:spPr>
          <a:xfrm>
            <a:off x="662967" y="1546526"/>
            <a:ext cx="2146653" cy="87738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 defTabSz="457200">
              <a:lnSpc>
                <a:spcPct val="105000"/>
              </a:lnSpc>
            </a:pPr>
            <a:r>
              <a:rPr lang="zh-CN" altLang="en-US" sz="4400" b="1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4400" b="1" spc="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978420" y="2566566"/>
            <a:ext cx="148582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>
            <a:fillRect/>
          </a:stretch>
        </p:blipFill>
        <p:spPr>
          <a:xfrm>
            <a:off x="1119809" y="2801269"/>
            <a:ext cx="1181100" cy="13204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3"/>
          <p:cNvSpPr>
            <a:spLocks noGrp="1"/>
          </p:cNvSpPr>
          <p:nvPr>
            <p:ph type="title"/>
          </p:nvPr>
        </p:nvSpPr>
        <p:spPr>
          <a:xfrm>
            <a:off x="1050587" y="3066615"/>
            <a:ext cx="10272409" cy="724770"/>
          </a:xfrm>
          <a:prstGeom prst="rect">
            <a:avLst/>
          </a:prstGeom>
          <a:noFill/>
          <a:effectLst/>
        </p:spPr>
        <p:txBody>
          <a:bodyPr anchor="b"/>
          <a:lstStyle>
            <a:lvl1pPr algn="ctr">
              <a:defRPr sz="4400" b="1" spc="300">
                <a:solidFill>
                  <a:srgbClr val="175F8B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50587" y="4054966"/>
            <a:ext cx="10272409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31" name="矩形: 剪去单角 30"/>
          <p:cNvSpPr/>
          <p:nvPr userDrawn="1"/>
        </p:nvSpPr>
        <p:spPr>
          <a:xfrm rot="5400000" flipV="1">
            <a:off x="6070791" y="736789"/>
            <a:ext cx="45719" cy="12196703"/>
          </a:xfrm>
          <a:prstGeom prst="snip1Rect">
            <a:avLst>
              <a:gd name="adj" fmla="val 0"/>
            </a:avLst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矩形: 圆顶角 9"/>
          <p:cNvSpPr/>
          <p:nvPr userDrawn="1"/>
        </p:nvSpPr>
        <p:spPr>
          <a:xfrm flipV="1">
            <a:off x="0" y="-1"/>
            <a:ext cx="12192000" cy="2411846"/>
          </a:xfrm>
          <a:prstGeom prst="round2SameRect">
            <a:avLst>
              <a:gd name="adj1" fmla="val 38659"/>
              <a:gd name="adj2" fmla="val 0"/>
            </a:avLst>
          </a:pr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3"/>
          <p:cNvSpPr txBox="1"/>
          <p:nvPr userDrawn="1"/>
        </p:nvSpPr>
        <p:spPr>
          <a:xfrm>
            <a:off x="9836672" y="-510395"/>
            <a:ext cx="2483796" cy="492319"/>
          </a:xfrm>
          <a:prstGeom prst="rect">
            <a:avLst/>
          </a:prstGeom>
          <a:noFill/>
          <a:effectLst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300">
                <a:solidFill>
                  <a:srgbClr val="A62038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b="0" i="1" dirty="0"/>
              <a:t>SJTU</a:t>
            </a:r>
            <a:endParaRPr lang="zh-CN" altLang="en-US" sz="1800" b="0" i="1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330949" y="732786"/>
            <a:ext cx="2895851" cy="747975"/>
            <a:chOff x="1142749" y="5535283"/>
            <a:chExt cx="2895851" cy="747975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1231900" y="5535283"/>
              <a:ext cx="2626310" cy="45577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2749" y="6027204"/>
              <a:ext cx="2895851" cy="256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顶角 6"/>
          <p:cNvSpPr/>
          <p:nvPr userDrawn="1"/>
        </p:nvSpPr>
        <p:spPr>
          <a:xfrm rot="16200000" flipV="1">
            <a:off x="4364979" y="-859726"/>
            <a:ext cx="1164073" cy="99114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顶角 9"/>
          <p:cNvSpPr/>
          <p:nvPr userDrawn="1"/>
        </p:nvSpPr>
        <p:spPr>
          <a:xfrm rot="16200000" flipV="1">
            <a:off x="4698772" y="-2328498"/>
            <a:ext cx="1681026" cy="1107857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75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3"/>
          <p:cNvSpPr>
            <a:spLocks noGrp="1"/>
          </p:cNvSpPr>
          <p:nvPr>
            <p:ph type="title"/>
          </p:nvPr>
        </p:nvSpPr>
        <p:spPr>
          <a:xfrm>
            <a:off x="1050587" y="2848403"/>
            <a:ext cx="10272409" cy="724770"/>
          </a:xfrm>
          <a:prstGeom prst="rect">
            <a:avLst/>
          </a:prstGeom>
          <a:noFill/>
          <a:effectLst/>
        </p:spPr>
        <p:txBody>
          <a:bodyPr anchor="t"/>
          <a:lstStyle>
            <a:lvl1pPr algn="l">
              <a:defRPr sz="4400" b="1" spc="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50587" y="4125798"/>
            <a:ext cx="10272409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>
            <a:fillRect/>
          </a:stretch>
        </p:blipFill>
        <p:spPr>
          <a:xfrm>
            <a:off x="9793909" y="2550562"/>
            <a:ext cx="1181100" cy="13204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3"/>
          <p:cNvSpPr>
            <a:spLocks noGrp="1"/>
          </p:cNvSpPr>
          <p:nvPr>
            <p:ph type="title"/>
          </p:nvPr>
        </p:nvSpPr>
        <p:spPr>
          <a:xfrm>
            <a:off x="1418471" y="1216448"/>
            <a:ext cx="10468729" cy="775349"/>
          </a:xfrm>
          <a:prstGeom prst="rect">
            <a:avLst/>
          </a:prstGeom>
          <a:noFill/>
          <a:effectLst/>
        </p:spPr>
        <p:txBody>
          <a:bodyPr anchor="ctr"/>
          <a:lstStyle>
            <a:lvl1pPr algn="l">
              <a:defRPr sz="4400" b="1" spc="300">
                <a:solidFill>
                  <a:srgbClr val="175F8B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18471" y="2746674"/>
            <a:ext cx="9845113" cy="1534265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lnSpc>
                <a:spcPct val="130000"/>
              </a:lnSpc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418471" y="2344233"/>
            <a:ext cx="9554329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顶角 11"/>
          <p:cNvSpPr/>
          <p:nvPr userDrawn="1"/>
        </p:nvSpPr>
        <p:spPr>
          <a:xfrm rot="16200000" flipV="1">
            <a:off x="-2540271" y="3174998"/>
            <a:ext cx="5817139" cy="73660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75F8B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>
            <a:fillRect/>
          </a:stretch>
        </p:blipFill>
        <p:spPr>
          <a:xfrm>
            <a:off x="86033" y="748756"/>
            <a:ext cx="564529" cy="631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一般样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剪去单角 13"/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892372" y="381075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rgbClr val="175F8B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1017746" y="1498600"/>
            <a:ext cx="10399554" cy="4286377"/>
          </a:xfrm>
          <a:prstGeom prst="rect">
            <a:avLst/>
          </a:prstGeom>
        </p:spPr>
        <p:txBody>
          <a:bodyPr/>
          <a:lstStyle>
            <a:lvl1pPr marL="363855" indent="-363855">
              <a:lnSpc>
                <a:spcPct val="130000"/>
              </a:lnSpc>
              <a:buClr>
                <a:srgbClr val="92D050"/>
              </a:buClr>
              <a:buFont typeface="Wingdings" panose="05000000000000000000" pitchFamily="2" charset="2"/>
              <a:buChar char="p"/>
              <a:defRPr sz="24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Clr>
                <a:srgbClr val="92D050"/>
              </a:buClr>
              <a:buFont typeface="Arial" panose="020B0604020202020204" pitchFamily="34" charset="0"/>
              <a:buChar char="•"/>
              <a:defRPr sz="2200" spc="300"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Clr>
                <a:srgbClr val="92D050"/>
              </a:buClr>
              <a:buFont typeface="Arial" panose="020B0604020202020204" pitchFamily="34" charset="0"/>
              <a:buChar char="•"/>
              <a:defRPr sz="1800" spc="300">
                <a:solidFill>
                  <a:schemeClr val="bg2">
                    <a:lumMod val="7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Clr>
                <a:srgbClr val="92D050"/>
              </a:buClr>
              <a:buFont typeface="Arial" panose="020B0604020202020204" pitchFamily="34" charset="0"/>
              <a:buChar char="•"/>
              <a:defRPr sz="1600" spc="300">
                <a:solidFill>
                  <a:schemeClr val="bg2">
                    <a:lumMod val="7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Clr>
                <a:srgbClr val="92D050"/>
              </a:buClr>
              <a:buFont typeface="Arial" panose="020B0604020202020204" pitchFamily="34" charset="0"/>
              <a:buChar char="•"/>
              <a:defRPr sz="1400" spc="300"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矩形: 圆顶角 8"/>
          <p:cNvSpPr/>
          <p:nvPr userDrawn="1"/>
        </p:nvSpPr>
        <p:spPr>
          <a:xfrm flipV="1">
            <a:off x="971883" y="1163586"/>
            <a:ext cx="1155300" cy="68568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951341" y="6663471"/>
            <a:ext cx="8467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dist"/>
            <a:r>
              <a:rPr lang="en-US" altLang="zh-CN" sz="1100" b="0" i="1" spc="600" dirty="0">
                <a:solidFill>
                  <a:schemeClr val="bg1"/>
                </a:solidFill>
              </a:rPr>
              <a:t>SJTU</a:t>
            </a:r>
            <a:endParaRPr lang="zh-CN" altLang="en-US" sz="1100" b="0" i="1" spc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无短线，有底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892372" y="572674"/>
            <a:ext cx="977461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rgbClr val="175F8B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4" name="矩形: 剪去单角 13"/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平行四边形 12"/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951341" y="6663471"/>
            <a:ext cx="8467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dist"/>
            <a:r>
              <a:rPr lang="en-US" altLang="zh-CN" sz="1100" b="0" i="1" spc="600" dirty="0">
                <a:solidFill>
                  <a:schemeClr val="bg1"/>
                </a:solidFill>
              </a:rPr>
              <a:t>SJTU</a:t>
            </a:r>
            <a:endParaRPr lang="zh-CN" altLang="en-US" sz="1100" b="0" i="1" spc="600" dirty="0">
              <a:solidFill>
                <a:schemeClr val="bg1"/>
              </a:solidFill>
            </a:endParaRPr>
          </a:p>
        </p:txBody>
      </p:sp>
      <p:sp>
        <p:nvSpPr>
          <p:cNvPr id="9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1017746" y="1498600"/>
            <a:ext cx="10399554" cy="4286377"/>
          </a:xfrm>
          <a:prstGeom prst="rect">
            <a:avLst/>
          </a:prstGeom>
        </p:spPr>
        <p:txBody>
          <a:bodyPr/>
          <a:lstStyle>
            <a:lvl1pPr marL="363855" indent="-363855">
              <a:lnSpc>
                <a:spcPct val="130000"/>
              </a:lnSpc>
              <a:buClr>
                <a:srgbClr val="175F8B"/>
              </a:buClr>
              <a:buFont typeface="Arial" panose="020B0604020202020204" pitchFamily="34" charset="0"/>
              <a:buChar char="•"/>
              <a:defRPr lang="zh-CN" altLang="en-US" sz="2400" b="1" kern="1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lnSpc>
                <a:spcPct val="130000"/>
              </a:lnSpc>
              <a:buClr>
                <a:srgbClr val="175F8B"/>
              </a:buClr>
              <a:buFont typeface="Arial" panose="020B0604020202020204" pitchFamily="34" charset="0"/>
              <a:buChar char="•"/>
              <a:defRPr sz="2200" spc="300"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Clr>
                <a:srgbClr val="175F8B"/>
              </a:buClr>
              <a:buFont typeface="Arial" panose="020B0604020202020204" pitchFamily="34" charset="0"/>
              <a:buChar char="•"/>
              <a:defRPr sz="18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Clr>
                <a:srgbClr val="175F8B"/>
              </a:buClr>
              <a:buFont typeface="Arial" panose="020B0604020202020204" pitchFamily="34" charset="0"/>
              <a:buChar char="•"/>
              <a:defRPr sz="16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Clr>
                <a:srgbClr val="175F8B"/>
              </a:buClr>
              <a:buFont typeface="Arial" panose="020B0604020202020204" pitchFamily="34" charset="0"/>
              <a:buChar char="•"/>
              <a:defRPr sz="1400" spc="3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363855" lvl="0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175F8B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01">
    <p:bg>
      <p:bgPr>
        <a:solidFill>
          <a:srgbClr val="175F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/>
          <p:cNvSpPr/>
          <p:nvPr userDrawn="1"/>
        </p:nvSpPr>
        <p:spPr>
          <a:xfrm>
            <a:off x="0" y="-13844"/>
            <a:ext cx="8775700" cy="6871844"/>
          </a:xfrm>
          <a:custGeom>
            <a:avLst/>
            <a:gdLst>
              <a:gd name="connsiteX0" fmla="*/ 0 w 7775476"/>
              <a:gd name="connsiteY0" fmla="*/ 0 h 6858000"/>
              <a:gd name="connsiteX1" fmla="*/ 7326808 w 7775476"/>
              <a:gd name="connsiteY1" fmla="*/ 0 h 6858000"/>
              <a:gd name="connsiteX2" fmla="*/ 7370317 w 7775476"/>
              <a:gd name="connsiteY2" fmla="*/ 107072 h 6858000"/>
              <a:gd name="connsiteX3" fmla="*/ 7775476 w 7775476"/>
              <a:gd name="connsiteY3" fmla="*/ 2334639 h 6858000"/>
              <a:gd name="connsiteX4" fmla="*/ 6040912 w 7775476"/>
              <a:gd name="connsiteY4" fmla="*/ 6690718 h 6858000"/>
              <a:gd name="connsiteX5" fmla="*/ 5876541 w 7775476"/>
              <a:gd name="connsiteY5" fmla="*/ 6858000 h 6858000"/>
              <a:gd name="connsiteX6" fmla="*/ 0 w 7775476"/>
              <a:gd name="connsiteY6" fmla="*/ 6858000 h 6858000"/>
              <a:gd name="connsiteX7" fmla="*/ 0 w 7775476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5476" h="6858000">
                <a:moveTo>
                  <a:pt x="0" y="0"/>
                </a:moveTo>
                <a:lnTo>
                  <a:pt x="7326808" y="0"/>
                </a:lnTo>
                <a:lnTo>
                  <a:pt x="7370317" y="107072"/>
                </a:lnTo>
                <a:cubicBezTo>
                  <a:pt x="7632429" y="801663"/>
                  <a:pt x="7775476" y="1551942"/>
                  <a:pt x="7775476" y="2334639"/>
                </a:cubicBezTo>
                <a:cubicBezTo>
                  <a:pt x="7775476" y="4011847"/>
                  <a:pt x="7118627" y="5540198"/>
                  <a:pt x="6040912" y="6690718"/>
                </a:cubicBezTo>
                <a:lnTo>
                  <a:pt x="587654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2371344" y="1409700"/>
            <a:ext cx="3340100" cy="3340100"/>
          </a:xfrm>
          <a:prstGeom prst="ellipse">
            <a:avLst/>
          </a:prstGeom>
          <a:blipFill dpi="0" rotWithShape="1">
            <a:blip r:embed="rId2">
              <a:alphaModFix amt="15000"/>
            </a:blip>
            <a:srcRect/>
            <a:stretch>
              <a:fillRect l="-11529" t="-11529" r="-11513" b="-115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" r="68249"/>
          <a:stretch>
            <a:fillRect/>
          </a:stretch>
        </p:blipFill>
        <p:spPr>
          <a:xfrm>
            <a:off x="8850159" y="-2897899"/>
            <a:ext cx="1181100" cy="1320452"/>
          </a:xfrm>
          <a:prstGeom prst="rect">
            <a:avLst/>
          </a:prstGeom>
        </p:spPr>
      </p:pic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860403" y="2140703"/>
            <a:ext cx="7054894" cy="10668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013882" y="2446217"/>
            <a:ext cx="2895851" cy="761295"/>
            <a:chOff x="8201082" y="2090313"/>
            <a:chExt cx="2895851" cy="761295"/>
          </a:xfrm>
        </p:grpSpPr>
        <p:pic>
          <p:nvPicPr>
            <p:cNvPr id="16" name="图片 15"/>
            <p:cNvPicPr>
              <a:picLocks noChangeAspect="1"/>
            </p:cNvPicPr>
            <p:nvPr userDrawn="1"/>
          </p:nvPicPr>
          <p:blipFill rotWithShape="1"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 contrast="200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81" t="-39299" r="3657"/>
            <a:stretch>
              <a:fillRect/>
            </a:stretch>
          </p:blipFill>
          <p:spPr>
            <a:xfrm>
              <a:off x="8335853" y="2090313"/>
              <a:ext cx="2626310" cy="45577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01082" y="2595554"/>
              <a:ext cx="2895851" cy="256054"/>
            </a:xfrm>
            <a:prstGeom prst="rect">
              <a:avLst/>
            </a:prstGeom>
          </p:spPr>
        </p:pic>
      </p:grpSp>
      <p:sp>
        <p:nvSpPr>
          <p:cNvPr id="13" name="圆: 空心 12"/>
          <p:cNvSpPr/>
          <p:nvPr userDrawn="1"/>
        </p:nvSpPr>
        <p:spPr>
          <a:xfrm>
            <a:off x="1986523" y="1024614"/>
            <a:ext cx="4109742" cy="4109742"/>
          </a:xfrm>
          <a:prstGeom prst="donut">
            <a:avLst>
              <a:gd name="adj" fmla="val 9235"/>
            </a:avLst>
          </a:prstGeom>
          <a:blipFill dpi="0" rotWithShape="1">
            <a:blip r:embed="rId2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(带底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单角 1"/>
          <p:cNvSpPr/>
          <p:nvPr userDrawn="1"/>
        </p:nvSpPr>
        <p:spPr>
          <a:xfrm rot="5400000" flipV="1">
            <a:off x="6020103" y="686100"/>
            <a:ext cx="147097" cy="12196703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>
            <a:off x="893764" y="6710902"/>
            <a:ext cx="873216" cy="147098"/>
          </a:xfrm>
          <a:prstGeom prst="parallelogram">
            <a:avLst/>
          </a:prstGeom>
          <a:solidFill>
            <a:srgbClr val="E0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951341" y="6663471"/>
            <a:ext cx="8467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dist"/>
            <a:r>
              <a:rPr lang="en-US" altLang="zh-CN" sz="1100" b="0" i="1" spc="600" dirty="0">
                <a:solidFill>
                  <a:schemeClr val="bg1"/>
                </a:solidFill>
              </a:rPr>
              <a:t>SJTU</a:t>
            </a:r>
            <a:endParaRPr lang="zh-CN" altLang="en-US" sz="1100" b="0" i="1" spc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纯白，无底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78570" y="64135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E0CFBD"/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hyperlink" Target="https://notes.sjtu.edu.cn/SG0OCEhHRCqcsE30CToLxA" TargetMode="External"/><Relationship Id="rId3" Type="http://schemas.openxmlformats.org/officeDocument/2006/relationships/hyperlink" Target="https://notes.sjtu.edu.cn/SY1ABBcOQxSEcg3c7wP7Kg" TargetMode="External"/><Relationship Id="rId2" Type="http://schemas.openxmlformats.org/officeDocument/2006/relationships/hyperlink" Target="https://acm.sjtu.edu.cn/OnlineJudge/problem/3226" TargetMode="External"/><Relationship Id="rId1" Type="http://schemas.openxmlformats.org/officeDocument/2006/relationships/hyperlink" Target="https://github.com/SJTUJohnClass/gitlite.git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600" dirty="0"/>
              <a:t>Gitlite-2026</a:t>
            </a:r>
            <a:endParaRPr lang="en-US" spc="600" dirty="0"/>
          </a:p>
        </p:txBody>
      </p:sp>
      <p:sp>
        <p:nvSpPr>
          <p:cNvPr id="4" name="文本占位符 3"/>
          <p:cNvSpPr/>
          <p:nvPr>
            <p:ph type="body" sz="quarter" idx="11"/>
          </p:nvPr>
        </p:nvSpPr>
        <p:spPr>
          <a:xfrm>
            <a:off x="5104765" y="5652135"/>
            <a:ext cx="1944370" cy="420370"/>
          </a:xfrm>
        </p:spPr>
        <p:txBody>
          <a:bodyPr/>
          <a:p>
            <a:r>
              <a:rPr lang="en-US" altLang="zh-CN" sz="1400"/>
              <a:t>_serendipity</a:t>
            </a:r>
            <a:endParaRPr lang="en-US" altLang="zh-CN" sz="1400"/>
          </a:p>
        </p:txBody>
      </p:sp>
      <p:sp>
        <p:nvSpPr>
          <p:cNvPr id="5" name="文本占位符 3"/>
          <p:cNvSpPr/>
          <p:nvPr/>
        </p:nvSpPr>
        <p:spPr>
          <a:xfrm>
            <a:off x="1069340" y="2798445"/>
            <a:ext cx="3767455" cy="42037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3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/>
              <a:t>SJTU —— It’s My Git !!!!!</a:t>
            </a:r>
            <a:endParaRPr lang="en-US" altLang="zh-CN" sz="1600"/>
          </a:p>
        </p:txBody>
      </p:sp>
      <p:cxnSp>
        <p:nvCxnSpPr>
          <p:cNvPr id="6" name="直接连接符 5"/>
          <p:cNvCxnSpPr/>
          <p:nvPr/>
        </p:nvCxnSpPr>
        <p:spPr>
          <a:xfrm>
            <a:off x="1026160" y="2724150"/>
            <a:ext cx="54032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1160145" y="3282315"/>
            <a:ext cx="1784350" cy="317500"/>
          </a:xfrm>
          <a:prstGeom prst="roundRect">
            <a:avLst/>
          </a:prstGeom>
          <a:solidFill>
            <a:srgbClr val="E0CFBD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CS1965 - Proj.3</a:t>
            </a:r>
            <a:endParaRPr lang="zh-CN" altLang="en-US" sz="1600" b="1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Intro.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/>
              <a:t>在前面的课程中已经讲述了</a:t>
            </a:r>
            <a:r>
              <a:rPr lang="en-US" altLang="zh-CN" b="1" dirty="0"/>
              <a:t> Git </a:t>
            </a:r>
            <a:r>
              <a:rPr lang="zh-CN" altLang="en-US" b="1" dirty="0"/>
              <a:t>常用命令的使用方法，因此我们在这个解决三个更重要的问题：</a:t>
            </a:r>
            <a:endParaRPr lang="zh-CN" altLang="en-US" b="1" dirty="0"/>
          </a:p>
          <a:p>
            <a:pPr marL="0" indent="0">
              <a:buNone/>
            </a:pPr>
            <a:endParaRPr lang="en-US" altLang="zh-CN" b="1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Git </a:t>
            </a:r>
            <a:r>
              <a:rPr lang="zh-CN" altLang="en-US" dirty="0"/>
              <a:t>到底把什么保存在了磁盘上？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每条命令改变了哪些对象、引用和文件？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如何将这些原理转化成我们的</a:t>
            </a:r>
            <a:r>
              <a:rPr lang="en-US" altLang="zh-CN" dirty="0"/>
              <a:t> C++ </a:t>
            </a:r>
            <a:r>
              <a:rPr lang="zh-CN" altLang="en-US" dirty="0"/>
              <a:t>项目？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4"/>
          <p:cNvSpPr txBox="1"/>
          <p:nvPr>
            <p:custDataLst>
              <p:tags r:id="rId1"/>
            </p:custDataLst>
          </p:nvPr>
        </p:nvSpPr>
        <p:spPr>
          <a:xfrm>
            <a:off x="5762191" y="5617377"/>
            <a:ext cx="5204059" cy="5334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125000"/>
              </a:lnSpc>
            </a:pP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大作业注意事项与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评分规则</a:t>
            </a:r>
            <a:endParaRPr lang="zh-CN" altLang="en-US" sz="14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205"/>
          <p:cNvSpPr txBox="1"/>
          <p:nvPr>
            <p:custDataLst>
              <p:tags r:id="rId2"/>
            </p:custDataLst>
          </p:nvPr>
        </p:nvSpPr>
        <p:spPr>
          <a:xfrm>
            <a:off x="4976345" y="5091195"/>
            <a:ext cx="54381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Gitlite 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bject 206"/>
          <p:cNvSpPr txBox="1"/>
          <p:nvPr>
            <p:custDataLst>
              <p:tags r:id="rId3"/>
            </p:custDataLst>
          </p:nvPr>
        </p:nvSpPr>
        <p:spPr>
          <a:xfrm>
            <a:off x="5749491" y="2852325"/>
            <a:ext cx="5204059" cy="5334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125000"/>
              </a:lnSpc>
            </a:pPr>
            <a:r>
              <a:rPr lang="en-US" altLang="zh-CN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Branch 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操作逻辑</a:t>
            </a:r>
            <a:endParaRPr lang="zh-CN" altLang="en-US" sz="14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207"/>
          <p:cNvSpPr txBox="1"/>
          <p:nvPr>
            <p:custDataLst>
              <p:tags r:id="rId4"/>
            </p:custDataLst>
          </p:nvPr>
        </p:nvSpPr>
        <p:spPr>
          <a:xfrm>
            <a:off x="4950946" y="2331006"/>
            <a:ext cx="54635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分支？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208"/>
          <p:cNvSpPr txBox="1"/>
          <p:nvPr>
            <p:custDataLst>
              <p:tags r:id="rId5"/>
            </p:custDataLst>
          </p:nvPr>
        </p:nvSpPr>
        <p:spPr>
          <a:xfrm>
            <a:off x="5749491" y="1469799"/>
            <a:ext cx="5204059" cy="5334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125000"/>
              </a:lnSpc>
            </a:pPr>
            <a:r>
              <a:rPr lang="en-US" altLang="zh-CN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Commit 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的底层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14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209"/>
          <p:cNvSpPr txBox="1"/>
          <p:nvPr>
            <p:custDataLst>
              <p:tags r:id="rId6"/>
            </p:custDataLst>
          </p:nvPr>
        </p:nvSpPr>
        <p:spPr>
          <a:xfrm>
            <a:off x="4944595" y="949491"/>
            <a:ext cx="5469940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提交？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204"/>
          <p:cNvSpPr txBox="1"/>
          <p:nvPr>
            <p:custDataLst>
              <p:tags r:id="rId7"/>
            </p:custDataLst>
          </p:nvPr>
        </p:nvSpPr>
        <p:spPr>
          <a:xfrm>
            <a:off x="5762191" y="4234851"/>
            <a:ext cx="5204059" cy="5334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defTabSz="457200">
              <a:lnSpc>
                <a:spcPct val="125000"/>
              </a:lnSpc>
            </a:pP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工作区、暂存区、</a:t>
            </a:r>
            <a:r>
              <a:rPr lang="zh-CN" altLang="en-US" sz="14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提交区</a:t>
            </a:r>
            <a:endParaRPr lang="zh-CN" altLang="en-US" sz="14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205"/>
          <p:cNvSpPr txBox="1"/>
          <p:nvPr>
            <p:custDataLst>
              <p:tags r:id="rId8"/>
            </p:custDataLst>
          </p:nvPr>
        </p:nvSpPr>
        <p:spPr>
          <a:xfrm>
            <a:off x="4976345" y="3712521"/>
            <a:ext cx="5438189" cy="457200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defTabSz="457200"/>
            <a:r>
              <a:rPr lang="en-US" altLang="zh-CN" sz="3000" spc="300" dirty="0">
                <a:solidFill>
                  <a:srgbClr val="E0CF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en-US" altLang="zh-CN" sz="3000" spc="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文件区？</a:t>
            </a:r>
            <a:endParaRPr lang="zh-CN" altLang="en-US" sz="3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4000" dirty="0"/>
              <a:t>什么是</a:t>
            </a:r>
            <a:r>
              <a:rPr lang="zh-CN" altLang="en-US" sz="4000" dirty="0"/>
              <a:t>提交？</a:t>
            </a:r>
            <a:endParaRPr lang="zh-CN" altLang="en-US" sz="40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Commit 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底层实现</a:t>
            </a:r>
            <a:endParaRPr lang="zh-CN" altLang="en-US" sz="18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顶角 7"/>
          <p:cNvSpPr/>
          <p:nvPr/>
        </p:nvSpPr>
        <p:spPr>
          <a:xfrm flipV="1">
            <a:off x="820985" y="2801162"/>
            <a:ext cx="48019" cy="84595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bg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602"/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1</a:t>
            </a:r>
            <a:endParaRPr lang="zh-CN" altLang="en-US" sz="1000" b="1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Question.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174625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思考一个</a:t>
            </a:r>
            <a:r>
              <a:rPr lang="zh-CN" altLang="en-US" b="1" dirty="0"/>
              <a:t>问题：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92D050"/>
                </a:solidFill>
              </a:rPr>
              <a:t>&gt;</a:t>
            </a:r>
            <a:r>
              <a:rPr lang="en-US" altLang="zh-CN" sz="2000" b="1" dirty="0"/>
              <a:t>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如果一个文件被连续提交了十次，并且内容完全相同，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Git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是否需要保存十次这份文件相同的数据？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1017905" y="3319145"/>
            <a:ext cx="10399395" cy="252412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这个问题的答案显然是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否定的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，如果这个文件非常大并且相同，复制内容就会浪费很多的空间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zh-CN" altLang="en-US" sz="22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ctr">
              <a:buNone/>
            </a:pPr>
            <a:r>
              <a:rPr lang="zh-CN" altLang="en-US" dirty="0">
                <a:solidFill>
                  <a:srgbClr val="A62038"/>
                </a:solidFill>
              </a:rPr>
              <a:t>那么</a:t>
            </a:r>
            <a:r>
              <a:rPr lang="en-US" altLang="zh-CN" dirty="0">
                <a:solidFill>
                  <a:srgbClr val="A62038"/>
                </a:solidFill>
              </a:rPr>
              <a:t> Git </a:t>
            </a:r>
            <a:r>
              <a:rPr lang="zh-CN" altLang="en-US" dirty="0">
                <a:solidFill>
                  <a:srgbClr val="A62038"/>
                </a:solidFill>
              </a:rPr>
              <a:t>如何解决这个问题呢？</a:t>
            </a:r>
            <a:endParaRPr lang="zh-CN" altLang="en-US" dirty="0">
              <a:solidFill>
                <a:srgbClr val="A6203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Commit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892175" y="2080895"/>
            <a:ext cx="4260850" cy="3892550"/>
            <a:chOff x="877580" y="1699481"/>
            <a:chExt cx="5132903" cy="3892384"/>
          </a:xfrm>
        </p:grpSpPr>
        <p:grpSp>
          <p:nvGrpSpPr>
            <p:cNvPr id="12" name="组合 11"/>
            <p:cNvGrpSpPr/>
            <p:nvPr/>
          </p:nvGrpSpPr>
          <p:grpSpPr>
            <a:xfrm>
              <a:off x="877580" y="1699481"/>
              <a:ext cx="5132903" cy="3892384"/>
              <a:chOff x="892372" y="1699481"/>
              <a:chExt cx="4697281" cy="3892384"/>
            </a:xfrm>
          </p:grpSpPr>
          <p:sp>
            <p:nvSpPr>
              <p:cNvPr id="3" name="矩形: 圆角 2"/>
              <p:cNvSpPr/>
              <p:nvPr/>
            </p:nvSpPr>
            <p:spPr>
              <a:xfrm>
                <a:off x="892372" y="1699481"/>
                <a:ext cx="4690281" cy="3884614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半闭框 9"/>
              <p:cNvSpPr/>
              <p:nvPr/>
            </p:nvSpPr>
            <p:spPr>
              <a:xfrm rot="10800000">
                <a:off x="5239632" y="5261679"/>
                <a:ext cx="350021" cy="330186"/>
              </a:xfrm>
              <a:prstGeom prst="halfFram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矩形: 圆顶角 3"/>
            <p:cNvSpPr/>
            <p:nvPr/>
          </p:nvSpPr>
          <p:spPr>
            <a:xfrm rot="10800000">
              <a:off x="1022681" y="1706456"/>
              <a:ext cx="1032938" cy="235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占位符 1"/>
          <p:cNvSpPr txBox="1"/>
          <p:nvPr/>
        </p:nvSpPr>
        <p:spPr>
          <a:xfrm>
            <a:off x="5456555" y="1946275"/>
            <a:ext cx="6477635" cy="439737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对于提交信息这一项，就是用户在提交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的时候填入的内容，而时间戳就是提交时间的指定格式，接下来我们将主要讲讲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什么是快照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，以及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父提交是怎么引用的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buClr>
                <a:srgbClr val="92D050"/>
              </a:buClr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在真实的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中，现有方案是这样的：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将文件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内容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保存为不可变对象</a:t>
            </a:r>
            <a:b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用内容对象计算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b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用较小的可变引用指出文件对应的不可变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文本占位符 1"/>
          <p:cNvSpPr txBox="1"/>
          <p:nvPr/>
        </p:nvSpPr>
        <p:spPr>
          <a:xfrm>
            <a:off x="1012825" y="2584450"/>
            <a:ext cx="3940175" cy="266890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 snapshot    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快照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 parent       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父提交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 timestamp  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时间戳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└─ message    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提交信息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Object 408"/>
          <p:cNvSpPr txBox="1"/>
          <p:nvPr/>
        </p:nvSpPr>
        <p:spPr>
          <a:xfrm>
            <a:off x="877570" y="1583055"/>
            <a:ext cx="5259070" cy="320675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commit 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包含哪些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东西？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blob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228028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0" dirty="0"/>
              <a:t>blob</a:t>
            </a:r>
            <a:r>
              <a:rPr lang="zh-CN" altLang="en-US" sz="2000" b="0" dirty="0"/>
              <a:t>是</a:t>
            </a:r>
            <a:r>
              <a:rPr lang="en-US" altLang="zh-CN" sz="2000" b="0" dirty="0"/>
              <a:t>Git</a:t>
            </a:r>
            <a:r>
              <a:rPr lang="zh-CN" altLang="en-US" sz="2000" b="0" dirty="0"/>
              <a:t>的最小</a:t>
            </a:r>
            <a:r>
              <a:rPr lang="zh-CN" altLang="en-US" sz="2000" b="0" dirty="0"/>
              <a:t>存储对象，每个blob可以被认为是一个文件</a:t>
            </a:r>
            <a:r>
              <a:rPr lang="zh-CN" altLang="en-US" sz="2000" dirty="0"/>
              <a:t>内容</a:t>
            </a:r>
            <a:r>
              <a:rPr lang="zh-CN" altLang="en-US" sz="2000" b="0" dirty="0"/>
              <a:t>的存储，它由 Git 自动生成，blob的内容与文件名没有关系，只与文件内容有关，比如有两个不同的 .txt 文件内容完全一样，他们可以引用同一个blob </a:t>
            </a:r>
            <a:endParaRPr lang="zh-CN" altLang="en-US" sz="2000" b="0" dirty="0"/>
          </a:p>
          <a:p>
            <a:pPr marL="0" indent="0">
              <a:buNone/>
            </a:pPr>
            <a:r>
              <a:rPr lang="zh-CN" altLang="en-US" sz="2000" b="0" dirty="0"/>
              <a:t>而每个blob需要一个自己的blob_ID来表示自己，从而方便进行引用，ID通常由blob的具体内容经过哈希计算得到，一个可行的方案是：</a:t>
            </a:r>
            <a:endParaRPr lang="zh-CN" altLang="en-US" sz="2000" b="0" dirty="0"/>
          </a:p>
          <a:p>
            <a:pPr marL="0" indent="0">
              <a:buNone/>
            </a:pPr>
            <a:endParaRPr lang="zh-CN" altLang="en-US" sz="20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/>
        </p:nvSpPr>
        <p:spPr>
          <a:xfrm>
            <a:off x="1196975" y="4022725"/>
            <a:ext cx="9797415" cy="216154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/*BLOB</a:t>
            </a:r>
            <a:r>
              <a:rPr lang="zh-CN" altLang="en-US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指的是</a:t>
            </a:r>
            <a:r>
              <a:rPr lang="en-US" altLang="zh-CN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blob</a:t>
            </a:r>
            <a:r>
              <a:rPr lang="zh-CN" altLang="en-US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的规范序列化结果，下面是一种实现方法简化表达，并非实际</a:t>
            </a:r>
            <a:r>
              <a:rPr lang="zh-CN" altLang="en-US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实现*/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just">
              <a:buNone/>
            </a:pPr>
            <a:r>
              <a:rPr lang="en-US" altLang="zh-CN" sz="1600" b="0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std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::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string blob_content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= ...   </a:t>
            </a:r>
            <a:r>
              <a:rPr lang="en-US" altLang="zh-CN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// blob </a:t>
            </a:r>
            <a:r>
              <a:rPr lang="zh-CN" altLang="en-US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的具体内容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just">
              <a:buNone/>
            </a:pPr>
            <a:r>
              <a:rPr lang="en-US" altLang="zh-CN" sz="1600" b="0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std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::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string blob_Bytes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= ...     </a:t>
            </a:r>
            <a:r>
              <a:rPr lang="en-US" altLang="zh-CN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// blob </a:t>
            </a:r>
            <a:r>
              <a:rPr lang="zh-CN" altLang="en-US" sz="1600" b="0" i="1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的字节数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just">
              <a:buNone/>
            </a:pPr>
            <a:r>
              <a:rPr lang="en-US" altLang="zh-CN" sz="1600" b="0" dirty="0">
                <a:solidFill>
                  <a:srgbClr val="00B050"/>
                </a:solidFill>
                <a:latin typeface="Cascadia Code" panose="020B0609020000020004" charset="0"/>
                <a:cs typeface="Cascadia Code" panose="020B0609020000020004" charset="0"/>
              </a:rPr>
              <a:t>std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::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string BLOB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= </a:t>
            </a:r>
            <a:r>
              <a:rPr lang="en-US" altLang="zh-CN" sz="1600" b="0" dirty="0">
                <a:solidFill>
                  <a:schemeClr val="accent4"/>
                </a:solidFill>
                <a:latin typeface="Cascadia Code" panose="020B0609020000020004" charset="0"/>
                <a:cs typeface="Cascadia Code" panose="020B0609020000020004" charset="0"/>
              </a:rPr>
              <a:t>"blob "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+ 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blob_Bytes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+ </a:t>
            </a:r>
            <a:r>
              <a:rPr lang="en-US" altLang="zh-CN" sz="1600" b="0" dirty="0">
                <a:solidFill>
                  <a:schemeClr val="accent4"/>
                </a:solidFill>
                <a:latin typeface="Cascadia Code" panose="020B0609020000020004" charset="0"/>
                <a:cs typeface="Cascadia Code" panose="020B0609020000020004" charset="0"/>
              </a:rPr>
              <a:t>'</a:t>
            </a:r>
            <a:r>
              <a:rPr lang="en-US" altLang="zh-CN" sz="1600" b="0" dirty="0">
                <a:solidFill>
                  <a:schemeClr val="accent5"/>
                </a:solidFill>
                <a:latin typeface="Cascadia Code" panose="020B0609020000020004" charset="0"/>
                <a:cs typeface="Cascadia Code" panose="020B0609020000020004" charset="0"/>
              </a:rPr>
              <a:t>\0</a:t>
            </a:r>
            <a:r>
              <a:rPr lang="en-US" altLang="zh-CN" sz="1600" b="0" dirty="0">
                <a:solidFill>
                  <a:schemeClr val="accent4"/>
                </a:solidFill>
                <a:latin typeface="Cascadia Code" panose="020B0609020000020004" charset="0"/>
                <a:cs typeface="Cascadia Code" panose="020B0609020000020004" charset="0"/>
              </a:rPr>
              <a:t>'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+ 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blob_content</a:t>
            </a:r>
            <a:endParaRPr lang="en-US" altLang="zh-CN" sz="1600" b="0" dirty="0">
              <a:solidFill>
                <a:schemeClr val="tx1">
                  <a:lumMod val="75000"/>
                  <a:lumOff val="25000"/>
                </a:schemeClr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marL="0" indent="0" algn="just">
              <a:buNone/>
            </a:pP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blob_ID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 = </a:t>
            </a:r>
            <a:r>
              <a:rPr lang="en-US" altLang="zh-CN" sz="16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SHA1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(</a:t>
            </a:r>
            <a:r>
              <a:rPr lang="en-US" altLang="zh-CN" sz="1600" b="0" dirty="0">
                <a:solidFill>
                  <a:srgbClr val="00B0F0"/>
                </a:solidFill>
                <a:latin typeface="Cascadia Code" panose="020B0609020000020004" charset="0"/>
                <a:cs typeface="Cascadia Code" panose="020B0609020000020004" charset="0"/>
              </a:rPr>
              <a:t>BLOB</a:t>
            </a:r>
            <a:r>
              <a:rPr lang="en-US" altLang="zh-CN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charset="0"/>
                <a:cs typeface="Cascadia Code" panose="020B0609020000020004" charset="0"/>
              </a:rPr>
              <a:t>)</a:t>
            </a:r>
            <a:endParaRPr lang="en-US" altLang="zh-CN" sz="1600" b="0" dirty="0">
              <a:solidFill>
                <a:schemeClr val="tx1">
                  <a:lumMod val="75000"/>
                  <a:lumOff val="25000"/>
                </a:schemeClr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92175" y="3826510"/>
            <a:ext cx="10406380" cy="2428240"/>
            <a:chOff x="892372" y="1699481"/>
            <a:chExt cx="10406431" cy="3884614"/>
          </a:xfrm>
        </p:grpSpPr>
        <p:sp>
          <p:nvSpPr>
            <p:cNvPr id="6" name="矩形: 圆角 2"/>
            <p:cNvSpPr/>
            <p:nvPr/>
          </p:nvSpPr>
          <p:spPr>
            <a:xfrm>
              <a:off x="892372" y="1699481"/>
              <a:ext cx="10406431" cy="3884614"/>
            </a:xfrm>
            <a:prstGeom prst="roundRect">
              <a:avLst>
                <a:gd name="adj" fmla="val 5292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顶角 14"/>
            <p:cNvSpPr/>
            <p:nvPr/>
          </p:nvSpPr>
          <p:spPr>
            <a:xfrm rot="10800000">
              <a:off x="1022548" y="1705576"/>
              <a:ext cx="1033150" cy="37688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14" name="半闭框 13"/>
          <p:cNvSpPr/>
          <p:nvPr/>
        </p:nvSpPr>
        <p:spPr>
          <a:xfrm rot="10800000">
            <a:off x="10959608" y="5937526"/>
            <a:ext cx="351893" cy="329979"/>
          </a:xfrm>
          <a:prstGeom prst="halfFram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5545" y="3768725"/>
            <a:ext cx="70993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ascadia Code" panose="020B0609020000020004" charset="0"/>
                <a:cs typeface="Cascadia Code" panose="020B0609020000020004" charset="0"/>
              </a:rPr>
              <a:t>cpp</a:t>
            </a:r>
            <a:endParaRPr lang="en-US" altLang="zh-CN" sz="1400"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7" grpId="0"/>
      <p:bldP spid="5" grpId="1"/>
      <p:bldP spid="14" grpId="1" animBg="1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blob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47936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0" dirty="0"/>
              <a:t>你必须以一个</a:t>
            </a:r>
            <a:r>
              <a:rPr lang="zh-CN" altLang="en-US" sz="2000" dirty="0">
                <a:solidFill>
                  <a:srgbClr val="A62038"/>
                </a:solidFill>
              </a:rPr>
              <a:t>确定的序列化顺序</a:t>
            </a:r>
            <a:r>
              <a:rPr lang="zh-CN" altLang="en-US" sz="2000" b="0" dirty="0"/>
              <a:t>来计算ID，就像前文提到的，如果不同调用中序列化的方式不同，同一份文件可能会得到两份不同的序列化结果，那么他们的哈希值也就不会一样，会导致重复存储或查询</a:t>
            </a:r>
            <a:r>
              <a:rPr lang="zh-CN" altLang="en-US" sz="2000" b="0" dirty="0"/>
              <a:t>失败</a:t>
            </a:r>
            <a:br>
              <a:rPr lang="zh-CN" altLang="en-US" sz="2000" b="0" dirty="0"/>
            </a:br>
            <a:endParaRPr lang="zh-CN" altLang="en-US" sz="2000" b="0" dirty="0"/>
          </a:p>
          <a:p>
            <a:pPr marL="0" indent="0">
              <a:buNone/>
            </a:pPr>
            <a:r>
              <a:rPr lang="zh-CN" altLang="en-US" sz="2000" b="0" dirty="0"/>
              <a:t>在序列化后，用指定的哈希函数计算对应的</a:t>
            </a:r>
            <a:r>
              <a:rPr lang="en-US" altLang="zh-CN" sz="2000" b="0" dirty="0"/>
              <a:t>blob_ID</a:t>
            </a:r>
            <a:r>
              <a:rPr lang="zh-CN" altLang="en-US" sz="2000" b="0" dirty="0"/>
              <a:t>。SHA1是一个哈希方法，它的哈希结果固定为160bit，输出时常用</a:t>
            </a:r>
            <a:r>
              <a:rPr lang="zh-CN" altLang="en-US" sz="2000" dirty="0"/>
              <a:t>40位十六进制字符串</a:t>
            </a:r>
            <a:r>
              <a:rPr lang="zh-CN" altLang="en-US" sz="2000" b="0" dirty="0"/>
              <a:t>表示，这就保证了同样的内容经过哈希函数之后得到了相同的ID</a:t>
            </a:r>
            <a:br>
              <a:rPr lang="zh-CN" altLang="en-US" sz="2000" b="0" dirty="0"/>
            </a:br>
            <a:endParaRPr lang="zh-CN" altLang="en-US" sz="2000" b="0" dirty="0"/>
          </a:p>
          <a:p>
            <a:pPr marL="0" indent="0">
              <a:buNone/>
            </a:pPr>
            <a:r>
              <a:rPr lang="zh-CN" altLang="en-US" sz="2000" b="0" dirty="0"/>
              <a:t>通常Git会将这个ID作为一个文件名，并在这个文件中保存这份blob内容，我们称为</a:t>
            </a:r>
            <a:r>
              <a:rPr lang="zh-CN" altLang="en-US" sz="2000" dirty="0"/>
              <a:t>"内容寻址"</a:t>
            </a:r>
            <a:r>
              <a:rPr lang="zh-CN" altLang="en-US" sz="2000" b="0" dirty="0"/>
              <a:t>，即我们并不是先知到地址来获得内容，而是通过文件内容经过计算，得到这个内容的blob存储的地址</a:t>
            </a:r>
            <a:endParaRPr lang="zh-CN" altLang="en-US" sz="20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snapshot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892175" y="2491105"/>
            <a:ext cx="5137785" cy="2712720"/>
            <a:chOff x="877580" y="1699481"/>
            <a:chExt cx="5137954" cy="3902437"/>
          </a:xfrm>
        </p:grpSpPr>
        <p:grpSp>
          <p:nvGrpSpPr>
            <p:cNvPr id="12" name="组合 11"/>
            <p:cNvGrpSpPr/>
            <p:nvPr/>
          </p:nvGrpSpPr>
          <p:grpSpPr>
            <a:xfrm>
              <a:off x="877580" y="1699481"/>
              <a:ext cx="5137954" cy="3902437"/>
              <a:chOff x="892372" y="1699481"/>
              <a:chExt cx="4701903" cy="3902437"/>
            </a:xfrm>
          </p:grpSpPr>
          <p:sp>
            <p:nvSpPr>
              <p:cNvPr id="3" name="矩形: 圆角 2"/>
              <p:cNvSpPr/>
              <p:nvPr/>
            </p:nvSpPr>
            <p:spPr>
              <a:xfrm>
                <a:off x="892372" y="1699481"/>
                <a:ext cx="4690281" cy="3884614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半闭框 9"/>
              <p:cNvSpPr/>
              <p:nvPr/>
            </p:nvSpPr>
            <p:spPr>
              <a:xfrm rot="10800000">
                <a:off x="5272330" y="5082196"/>
                <a:ext cx="321945" cy="519722"/>
              </a:xfrm>
              <a:prstGeom prst="halfFram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矩形: 圆顶角 3"/>
            <p:cNvSpPr/>
            <p:nvPr/>
          </p:nvSpPr>
          <p:spPr>
            <a:xfrm rot="10800000">
              <a:off x="1022365" y="1706518"/>
              <a:ext cx="1033179" cy="31565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占位符 1"/>
          <p:cNvSpPr txBox="1"/>
          <p:nvPr/>
        </p:nvSpPr>
        <p:spPr>
          <a:xfrm>
            <a:off x="6223000" y="2305685"/>
            <a:ext cx="5151120" cy="289814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92D050"/>
              </a:buClr>
              <a:buFont typeface="Wingdings" panose="05000000000000000000" charset="0"/>
              <a:buChar char="p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中保存了当前目录中所有的文件名和文件夹名。它把文件名映射到对应文件内容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；把文件夹名映射到另一个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tree，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从而递归地进入不同的文件夹。而这个根目录的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就是被保存的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snapshot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，作为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的一部分被保存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文本占位符 1"/>
          <p:cNvSpPr txBox="1"/>
          <p:nvPr/>
        </p:nvSpPr>
        <p:spPr>
          <a:xfrm>
            <a:off x="1155700" y="2799080"/>
            <a:ext cx="4709160" cy="208788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tree T1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 Mad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.md  -&gt; blob B1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├─ app.cpp  -&gt; blob B2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└─ src/       -&gt; tree T2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└── app.cpp -&gt; blob B3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占位符 1"/>
          <p:cNvSpPr txBox="1"/>
          <p:nvPr/>
        </p:nvSpPr>
        <p:spPr>
          <a:xfrm>
            <a:off x="892175" y="1349375"/>
            <a:ext cx="10481945" cy="104267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我们从刚刚的内容可以知道，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blob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只能表达文件内容，但不能表达你提交了哪些文件，因为它不能管理文件名，在真实的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中，用了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这一结构来管理文件</a:t>
            </a:r>
            <a:endParaRPr lang="zh-CN" alt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1036955" y="5387340"/>
            <a:ext cx="10481945" cy="111760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92D050"/>
                </a:solidFill>
              </a:rPr>
              <a:t>&gt;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 对于我们的项目，为了减小压力，只考虑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扁平化目录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，即不存在文件夹嵌套，这样snapshot可以直接保存文件名与ID的映射对，跳过tree结构来实现存储</a:t>
            </a:r>
            <a:endParaRPr lang="zh-CN" alt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1" grpId="0"/>
      <p:bldP spid="41" grpId="1"/>
      <p:bldP spid="35" grpId="0"/>
      <p:bldP spid="35" grpId="1"/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4000" dirty="0"/>
              <a:t>什么是</a:t>
            </a:r>
            <a:r>
              <a:rPr lang="zh-CN" altLang="en-US" sz="4000" dirty="0"/>
              <a:t>分支？</a:t>
            </a:r>
            <a:endParaRPr lang="zh-CN" altLang="en-US" sz="40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en-US" altLang="zh-CN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Branch 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endParaRPr lang="zh-CN" altLang="en-US" sz="18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顶角 7"/>
          <p:cNvSpPr/>
          <p:nvPr/>
        </p:nvSpPr>
        <p:spPr>
          <a:xfrm flipV="1">
            <a:off x="820985" y="2801162"/>
            <a:ext cx="48019" cy="84595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bg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602"/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2</a:t>
            </a:r>
            <a:endParaRPr lang="en-US" altLang="zh-CN" sz="13100" b="1" i="0" dirty="0">
              <a:gradFill flip="none" rotWithShape="1">
                <a:gsLst>
                  <a:gs pos="0">
                    <a:srgbClr val="D7C1A9"/>
                  </a:gs>
                  <a:gs pos="74418">
                    <a:srgbClr val="D7C1A9">
                      <a:alpha val="0"/>
                    </a:srgbClr>
                  </a:gs>
                </a:gsLst>
                <a:lin ang="5400000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Question.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65341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92D050"/>
                </a:solidFill>
              </a:rPr>
              <a:t>&gt;</a:t>
            </a:r>
            <a:r>
              <a:rPr lang="en-US" altLang="zh-CN" sz="2000" b="1" dirty="0"/>
              <a:t>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在实现单个commit之后，我们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怎么把历史所有的commit串联起来？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1017905" y="2337435"/>
            <a:ext cx="10490200" cy="285813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所有的提交是一个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有向无环图（DAG）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，除了初始提交，所有提交的都会存储自己的父提交，这样的关系可以视作 </a:t>
            </a:r>
            <a:r>
              <a:rPr lang="zh-CN" altLang="en-US" sz="2000" dirty="0">
                <a:solidFill>
                  <a:srgbClr val="A62038"/>
                </a:solidFill>
              </a:rPr>
              <a:t>当前提交 -&gt; 父提交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 的一个有向边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800" b="0" dirty="0">
                <a:solidFill>
                  <a:schemeClr val="bg2">
                    <a:lumMod val="75000"/>
                  </a:schemeClr>
                </a:solidFill>
              </a:rPr>
              <a:t>（有些由merge得到的提交有会有两个父提交，此时我们把两个父提交都存储）</a:t>
            </a:r>
            <a:endParaRPr lang="zh-CN" altLang="en-US" sz="1800" b="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1800" b="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此时，我们只需要知道哪些提交是最新提交，就可以通过这个头层层向上，像遍历图那样查找所有的可达提交。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此时，每个头都代表了一个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branch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initial </a:t>
            </a:r>
            <a:r>
              <a:rPr lang="en-US" altLang="zh-CN" dirty="0"/>
              <a:t>commit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6800215" y="1618615"/>
            <a:ext cx="4516755" cy="3932555"/>
            <a:chOff x="1504981" y="1699481"/>
            <a:chExt cx="4516904" cy="3901909"/>
          </a:xfrm>
        </p:grpSpPr>
        <p:grpSp>
          <p:nvGrpSpPr>
            <p:cNvPr id="12" name="组合 11"/>
            <p:cNvGrpSpPr/>
            <p:nvPr/>
          </p:nvGrpSpPr>
          <p:grpSpPr>
            <a:xfrm>
              <a:off x="1504981" y="1699481"/>
              <a:ext cx="4516904" cy="3901909"/>
              <a:chOff x="1466526" y="1699481"/>
              <a:chExt cx="4133561" cy="3901909"/>
            </a:xfrm>
          </p:grpSpPr>
          <p:sp>
            <p:nvSpPr>
              <p:cNvPr id="3" name="矩形: 圆角 2"/>
              <p:cNvSpPr/>
              <p:nvPr/>
            </p:nvSpPr>
            <p:spPr>
              <a:xfrm>
                <a:off x="1466526" y="1699481"/>
                <a:ext cx="4116127" cy="3884608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半闭框 9"/>
              <p:cNvSpPr/>
              <p:nvPr/>
            </p:nvSpPr>
            <p:spPr>
              <a:xfrm rot="10800000">
                <a:off x="5278059" y="5271411"/>
                <a:ext cx="322028" cy="329979"/>
              </a:xfrm>
              <a:prstGeom prst="halfFram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矩形: 圆顶角 3"/>
            <p:cNvSpPr/>
            <p:nvPr/>
          </p:nvSpPr>
          <p:spPr>
            <a:xfrm rot="10800000">
              <a:off x="1841831" y="1706456"/>
              <a:ext cx="1032938" cy="235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占位符 1"/>
          <p:cNvSpPr txBox="1"/>
          <p:nvPr/>
        </p:nvSpPr>
        <p:spPr>
          <a:xfrm>
            <a:off x="7171055" y="2641600"/>
            <a:ext cx="4443730" cy="264922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消息为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initial commit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时间戳为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Unix 0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没有父提交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不跟踪任何文件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直接指向它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bject 408"/>
          <p:cNvSpPr txBox="1"/>
          <p:nvPr/>
        </p:nvSpPr>
        <p:spPr>
          <a:xfrm>
            <a:off x="7171055" y="2092325"/>
            <a:ext cx="4090670" cy="330835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initial commit 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内容：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文本占位符 1"/>
          <p:cNvSpPr txBox="1"/>
          <p:nvPr/>
        </p:nvSpPr>
        <p:spPr>
          <a:xfrm>
            <a:off x="1243330" y="1618615"/>
            <a:ext cx="4852670" cy="393319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真实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初始化后通常处于尚无提交的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unborn branch*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状态。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本项目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有意简化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了这个问题，即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必须立即建立固定的属于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分支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的空初始提交，内容要求如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右：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br>
              <a:rPr lang="en-US" altLang="zh-CN" sz="18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</a:rPr>
              <a:t>*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unborn branch 是一个未知状态，此时没有任何分支，若不特殊处理就要单独维护该特殊状态</a:t>
            </a:r>
            <a:endParaRPr lang="zh-CN" alt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5" grpId="1"/>
      <p:bldP spid="3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branch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7696700" y="1470881"/>
            <a:ext cx="3586014" cy="3892384"/>
            <a:chOff x="7696700" y="1699481"/>
            <a:chExt cx="3586014" cy="3892384"/>
          </a:xfrm>
        </p:grpSpPr>
        <p:grpSp>
          <p:nvGrpSpPr>
            <p:cNvPr id="37" name="组合 36"/>
            <p:cNvGrpSpPr/>
            <p:nvPr/>
          </p:nvGrpSpPr>
          <p:grpSpPr>
            <a:xfrm>
              <a:off x="7696700" y="1699481"/>
              <a:ext cx="3586014" cy="3892384"/>
              <a:chOff x="2309696" y="1699481"/>
              <a:chExt cx="3281674" cy="3892384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2309696" y="1699481"/>
                <a:ext cx="3272803" cy="3884930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半闭框 38"/>
              <p:cNvSpPr/>
              <p:nvPr/>
            </p:nvSpPr>
            <p:spPr>
              <a:xfrm rot="10800000">
                <a:off x="5269342" y="5261886"/>
                <a:ext cx="322028" cy="329979"/>
              </a:xfrm>
              <a:prstGeom prst="halfFram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矩形: 圆顶角 39"/>
            <p:cNvSpPr/>
            <p:nvPr/>
          </p:nvSpPr>
          <p:spPr>
            <a:xfrm rot="10800000">
              <a:off x="7836720" y="1706456"/>
              <a:ext cx="1032938" cy="2352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占位符 1"/>
          <p:cNvSpPr txBox="1"/>
          <p:nvPr/>
        </p:nvSpPr>
        <p:spPr>
          <a:xfrm>
            <a:off x="1243330" y="1699260"/>
            <a:ext cx="6068695" cy="377888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我们已经知道了所有的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都会保存它的父提交，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所以分支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只需保存一个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commit_ID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这个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指向该分支当前最新的提交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如右图我们已经有了三个提交，此时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分支只需要保存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commit_ID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即可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当新增一个提交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会把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保存为自己的父提交，同时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从原来的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修改为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zh-CN" sz="20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en-US" altLang="zh-CN" sz="2000" baseline="-25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由此我们可以总结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出：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410065" y="1744980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7" name="圆角矩形 6"/>
          <p:cNvSpPr/>
          <p:nvPr/>
        </p:nvSpPr>
        <p:spPr>
          <a:xfrm>
            <a:off x="9410065" y="2691130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8" name="圆角矩形 7"/>
          <p:cNvSpPr/>
          <p:nvPr/>
        </p:nvSpPr>
        <p:spPr>
          <a:xfrm>
            <a:off x="9410065" y="3637280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9" name="圆角矩形 8"/>
          <p:cNvSpPr/>
          <p:nvPr/>
        </p:nvSpPr>
        <p:spPr>
          <a:xfrm>
            <a:off x="9410065" y="4583430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15" name="圆角矩形 14"/>
          <p:cNvSpPr/>
          <p:nvPr/>
        </p:nvSpPr>
        <p:spPr>
          <a:xfrm>
            <a:off x="7983855" y="3769995"/>
            <a:ext cx="1139190" cy="317500"/>
          </a:xfrm>
          <a:prstGeom prst="roundRect">
            <a:avLst/>
          </a:prstGeom>
          <a:solidFill>
            <a:srgbClr val="E0CFBD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master</a:t>
            </a:r>
            <a:endParaRPr lang="en-US" altLang="zh-CN" sz="160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6" name="直接箭头连接符 15"/>
          <p:cNvCxnSpPr>
            <a:stCxn id="15" idx="3"/>
            <a:endCxn id="8" idx="1"/>
          </p:cNvCxnSpPr>
          <p:nvPr/>
        </p:nvCxnSpPr>
        <p:spPr>
          <a:xfrm>
            <a:off x="9123045" y="3928745"/>
            <a:ext cx="2870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0"/>
            <a:endCxn id="6" idx="2"/>
          </p:cNvCxnSpPr>
          <p:nvPr/>
        </p:nvCxnSpPr>
        <p:spPr>
          <a:xfrm flipV="1">
            <a:off x="10165715" y="2327275"/>
            <a:ext cx="0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8" idx="0"/>
            <a:endCxn id="7" idx="2"/>
          </p:cNvCxnSpPr>
          <p:nvPr/>
        </p:nvCxnSpPr>
        <p:spPr>
          <a:xfrm flipV="1">
            <a:off x="10165715" y="3273425"/>
            <a:ext cx="0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9" idx="0"/>
            <a:endCxn id="8" idx="2"/>
          </p:cNvCxnSpPr>
          <p:nvPr/>
        </p:nvCxnSpPr>
        <p:spPr>
          <a:xfrm flipV="1">
            <a:off x="10165715" y="4219575"/>
            <a:ext cx="0" cy="363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占位符 1"/>
          <p:cNvSpPr txBox="1"/>
          <p:nvPr/>
        </p:nvSpPr>
        <p:spPr>
          <a:xfrm>
            <a:off x="2745105" y="5591175"/>
            <a:ext cx="6068695" cy="54610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b="1" dirty="0">
                <a:solidFill>
                  <a:srgbClr val="A62038"/>
                </a:solidFill>
              </a:rPr>
              <a:t>提交是不可变的，而分支是可以移动的</a:t>
            </a:r>
            <a:endParaRPr lang="zh-CN" altLang="en-US" sz="2000" b="1" dirty="0">
              <a:solidFill>
                <a:srgbClr val="A6203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38889 " pathEditMode="relative" rAng="0" ptsTypes="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37685 " pathEditMode="relative" rAng="0" ptsTypes="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5" grpId="0" animBg="1"/>
      <p:bldP spid="6" grpId="1" animBg="1"/>
      <p:bldP spid="7" grpId="1" animBg="1"/>
      <p:bldP spid="8" grpId="1" animBg="1"/>
      <p:bldP spid="15" grpId="1" animBg="1"/>
      <p:bldP spid="9" grpId="0" animBg="1"/>
      <p:bldP spid="9" grpId="1" animBg="1"/>
      <p:bldP spid="15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HEAD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7475855" y="1134745"/>
            <a:ext cx="3806825" cy="5006340"/>
            <a:chOff x="7696700" y="1699481"/>
            <a:chExt cx="3586013" cy="4670897"/>
          </a:xfrm>
        </p:grpSpPr>
        <p:grpSp>
          <p:nvGrpSpPr>
            <p:cNvPr id="37" name="组合 36"/>
            <p:cNvGrpSpPr/>
            <p:nvPr/>
          </p:nvGrpSpPr>
          <p:grpSpPr>
            <a:xfrm>
              <a:off x="7696700" y="1699481"/>
              <a:ext cx="3586013" cy="4670897"/>
              <a:chOff x="2309696" y="1699481"/>
              <a:chExt cx="3281674" cy="4670897"/>
            </a:xfrm>
          </p:grpSpPr>
          <p:sp>
            <p:nvSpPr>
              <p:cNvPr id="38" name="矩形: 圆角 37"/>
              <p:cNvSpPr/>
              <p:nvPr/>
            </p:nvSpPr>
            <p:spPr>
              <a:xfrm>
                <a:off x="2309696" y="1699481"/>
                <a:ext cx="3272803" cy="4644390"/>
              </a:xfrm>
              <a:prstGeom prst="roundRect">
                <a:avLst>
                  <a:gd name="adj" fmla="val 5292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半闭框 38"/>
              <p:cNvSpPr/>
              <p:nvPr/>
            </p:nvSpPr>
            <p:spPr>
              <a:xfrm rot="10800000">
                <a:off x="5277709" y="6058748"/>
                <a:ext cx="313661" cy="311630"/>
              </a:xfrm>
              <a:prstGeom prst="halfFram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矩形: 圆顶角 39"/>
            <p:cNvSpPr/>
            <p:nvPr/>
          </p:nvSpPr>
          <p:spPr>
            <a:xfrm rot="10800000">
              <a:off x="7836671" y="1706590"/>
              <a:ext cx="760869" cy="23520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0CFBD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占位符 1"/>
          <p:cNvSpPr txBox="1"/>
          <p:nvPr/>
        </p:nvSpPr>
        <p:spPr>
          <a:xfrm>
            <a:off x="1243330" y="1699260"/>
            <a:ext cx="5741035" cy="441261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但是只有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branch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还不够，因为一个仓库中可能同时存在很多分支，如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右图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这时候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还必须知道用户当前到底处于哪个分支，因此还需要一个额外引用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例如原来用户处于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分支，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就引用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；当执行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checkout dev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时，我们只移动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到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的位置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切换分支本质上是让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指向另一个分支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，同时把工作目录恢复成这个分支所对应提交中的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snapshot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653780" y="1394460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7" name="圆角矩形 6"/>
          <p:cNvSpPr/>
          <p:nvPr/>
        </p:nvSpPr>
        <p:spPr>
          <a:xfrm>
            <a:off x="8653780" y="2232025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8" name="圆角矩形 7"/>
          <p:cNvSpPr/>
          <p:nvPr/>
        </p:nvSpPr>
        <p:spPr>
          <a:xfrm>
            <a:off x="8653780" y="3046095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9546590" y="3919855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8021320" y="5674995"/>
            <a:ext cx="1139190" cy="317500"/>
          </a:xfrm>
          <a:prstGeom prst="roundRect">
            <a:avLst/>
          </a:prstGeom>
          <a:solidFill>
            <a:srgbClr val="E0CFBD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master</a:t>
            </a:r>
            <a:endParaRPr lang="en-US" altLang="zh-CN" sz="160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6" name="直接箭头连接符 15"/>
          <p:cNvCxnSpPr>
            <a:stCxn id="15" idx="0"/>
            <a:endCxn id="10" idx="2"/>
          </p:cNvCxnSpPr>
          <p:nvPr>
            <p:custDataLst>
              <p:tags r:id="rId3"/>
            </p:custDataLst>
          </p:nvPr>
        </p:nvCxnSpPr>
        <p:spPr>
          <a:xfrm flipV="1">
            <a:off x="8590915" y="5380990"/>
            <a:ext cx="0" cy="294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0"/>
            <a:endCxn id="6" idx="2"/>
          </p:cNvCxnSpPr>
          <p:nvPr/>
        </p:nvCxnSpPr>
        <p:spPr>
          <a:xfrm flipV="1">
            <a:off x="9409430" y="1976755"/>
            <a:ext cx="0" cy="255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8" idx="0"/>
            <a:endCxn id="7" idx="2"/>
          </p:cNvCxnSpPr>
          <p:nvPr/>
        </p:nvCxnSpPr>
        <p:spPr>
          <a:xfrm flipV="1">
            <a:off x="9409430" y="2814320"/>
            <a:ext cx="0" cy="2317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9" idx="0"/>
            <a:endCxn id="8" idx="2"/>
          </p:cNvCxnSpPr>
          <p:nvPr/>
        </p:nvCxnSpPr>
        <p:spPr>
          <a:xfrm flipH="1" flipV="1">
            <a:off x="9409430" y="3628390"/>
            <a:ext cx="892810" cy="291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7835265" y="3922395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cxnSp>
        <p:nvCxnSpPr>
          <p:cNvPr id="4" name="直接箭头连接符 3"/>
          <p:cNvCxnSpPr>
            <a:stCxn id="3" idx="0"/>
            <a:endCxn id="8" idx="2"/>
          </p:cNvCxnSpPr>
          <p:nvPr/>
        </p:nvCxnSpPr>
        <p:spPr>
          <a:xfrm flipV="1">
            <a:off x="8590915" y="3628390"/>
            <a:ext cx="818515" cy="294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7835265" y="4798695"/>
            <a:ext cx="1511300" cy="58229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commit</a:t>
            </a:r>
            <a:br>
              <a:rPr lang="en-US" altLang="zh-CN"/>
            </a:br>
            <a:r>
              <a:rPr lang="en-US" altLang="zh-CN"/>
              <a:t>C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cxnSp>
        <p:nvCxnSpPr>
          <p:cNvPr id="11" name="直接箭头连接符 10"/>
          <p:cNvCxnSpPr>
            <a:stCxn id="10" idx="0"/>
            <a:endCxn id="3" idx="2"/>
          </p:cNvCxnSpPr>
          <p:nvPr>
            <p:custDataLst>
              <p:tags r:id="rId6"/>
            </p:custDataLst>
          </p:nvPr>
        </p:nvCxnSpPr>
        <p:spPr>
          <a:xfrm flipV="1">
            <a:off x="8590915" y="4504690"/>
            <a:ext cx="0" cy="294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9732645" y="4793615"/>
            <a:ext cx="1139190" cy="317500"/>
          </a:xfrm>
          <a:prstGeom prst="roundRect">
            <a:avLst/>
          </a:prstGeom>
          <a:solidFill>
            <a:srgbClr val="E0CFBD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dev</a:t>
            </a:r>
            <a:endParaRPr lang="en-US" altLang="zh-CN" sz="1600">
              <a:solidFill>
                <a:schemeClr val="tx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3" name="直接箭头连接符 12"/>
          <p:cNvCxnSpPr>
            <a:stCxn id="12" idx="0"/>
            <a:endCxn id="9" idx="2"/>
          </p:cNvCxnSpPr>
          <p:nvPr>
            <p:custDataLst>
              <p:tags r:id="rId8"/>
            </p:custDataLst>
          </p:nvPr>
        </p:nvCxnSpPr>
        <p:spPr>
          <a:xfrm flipV="1">
            <a:off x="10302240" y="4502150"/>
            <a:ext cx="0" cy="291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>
            <p:custDataLst>
              <p:tags r:id="rId9"/>
            </p:custDataLst>
          </p:nvPr>
        </p:nvSpPr>
        <p:spPr>
          <a:xfrm>
            <a:off x="9732645" y="5674995"/>
            <a:ext cx="1139190" cy="317500"/>
          </a:xfrm>
          <a:prstGeom prst="roundRect">
            <a:avLst/>
          </a:prstGeom>
          <a:solidFill>
            <a:srgbClr val="175F8B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HEAD</a:t>
            </a:r>
            <a:endParaRPr lang="en-US" altLang="zh-CN" sz="160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7" name="直接箭头连接符 16"/>
          <p:cNvCxnSpPr>
            <a:stCxn id="14" idx="0"/>
            <a:endCxn id="12" idx="2"/>
          </p:cNvCxnSpPr>
          <p:nvPr>
            <p:custDataLst>
              <p:tags r:id="rId10"/>
            </p:custDataLst>
          </p:nvPr>
        </p:nvCxnSpPr>
        <p:spPr>
          <a:xfrm flipV="1">
            <a:off x="10302240" y="5111115"/>
            <a:ext cx="0" cy="563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" idx="1"/>
            <a:endCxn id="15" idx="3"/>
          </p:cNvCxnSpPr>
          <p:nvPr/>
        </p:nvCxnSpPr>
        <p:spPr>
          <a:xfrm flipH="1">
            <a:off x="9160510" y="5833745"/>
            <a:ext cx="5721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 animBg="1"/>
      <p:bldP spid="3" grpId="0" animBg="1"/>
      <p:bldP spid="10" grpId="0" animBg="1"/>
      <p:bldP spid="12" grpId="0" animBg="1"/>
      <p:bldP spid="6" grpId="1" animBg="1"/>
      <p:bldP spid="7" grpId="1" animBg="1"/>
      <p:bldP spid="8" grpId="1" animBg="1"/>
      <p:bldP spid="9" grpId="1" animBg="1"/>
      <p:bldP spid="15" grpId="1" animBg="1"/>
      <p:bldP spid="3" grpId="1" animBg="1"/>
      <p:bldP spid="10" grpId="1" animBg="1"/>
      <p:bldP spid="12" grpId="1" animBg="1"/>
      <p:bldP spid="14" grpId="0" animBg="1"/>
      <p:bldP spid="1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4000" dirty="0"/>
              <a:t>什么是文件</a:t>
            </a:r>
            <a:r>
              <a:rPr lang="zh-CN" altLang="en-US" sz="4000" dirty="0"/>
              <a:t>区？</a:t>
            </a:r>
            <a:endParaRPr lang="zh-CN" altLang="en-US" sz="40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工作区、暂存区、提交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</a:t>
            </a:r>
            <a:endParaRPr lang="zh-CN" altLang="en-US" sz="18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顶角 7"/>
          <p:cNvSpPr/>
          <p:nvPr/>
        </p:nvSpPr>
        <p:spPr>
          <a:xfrm flipV="1">
            <a:off x="820985" y="2801162"/>
            <a:ext cx="48019" cy="84595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bg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602"/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3</a:t>
            </a:r>
            <a:endParaRPr lang="en-US" altLang="zh-CN" sz="13100" b="1" i="0" dirty="0">
              <a:gradFill flip="none" rotWithShape="1">
                <a:gsLst>
                  <a:gs pos="0">
                    <a:srgbClr val="D7C1A9"/>
                  </a:gs>
                  <a:gs pos="74418">
                    <a:srgbClr val="D7C1A9">
                      <a:alpha val="0"/>
                    </a:srgbClr>
                  </a:gs>
                </a:gsLst>
                <a:lin ang="5400000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Areas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247459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0" dirty="0"/>
              <a:t>在 </a:t>
            </a:r>
            <a:r>
              <a:rPr lang="en-US" altLang="zh-CN" sz="2000" b="0" dirty="0"/>
              <a:t>Git </a:t>
            </a:r>
            <a:r>
              <a:rPr lang="zh-CN" altLang="en-US" sz="2000" b="0" dirty="0"/>
              <a:t>的版本管理系统中，我们会有三层状态，分别是：</a:t>
            </a:r>
            <a:endParaRPr lang="zh-CN" altLang="en-US" sz="2000" b="0" dirty="0"/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000" b="0" dirty="0">
                <a:sym typeface="+mn-ea"/>
              </a:rPr>
              <a:t>Working Directory		</a:t>
            </a:r>
            <a:r>
              <a:rPr lang="zh-CN" altLang="en-US" sz="2000" b="0" dirty="0">
                <a:sym typeface="+mn-ea"/>
              </a:rPr>
              <a:t>工作区</a:t>
            </a:r>
            <a:endParaRPr lang="zh-CN" altLang="en-US" sz="2000" b="0" dirty="0"/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000" b="0" dirty="0">
                <a:sym typeface="+mn-ea"/>
              </a:rPr>
              <a:t>Staging Area 			</a:t>
            </a:r>
            <a:r>
              <a:rPr lang="zh-CN" altLang="en-US" sz="2000" b="0" dirty="0">
                <a:sym typeface="+mn-ea"/>
              </a:rPr>
              <a:t>暂存区</a:t>
            </a:r>
            <a:endParaRPr lang="zh-CN" altLang="en-US" sz="20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000" b="0" dirty="0">
                <a:sym typeface="+mn-ea"/>
              </a:rPr>
              <a:t>Repository 			</a:t>
            </a:r>
            <a:r>
              <a:rPr lang="zh-CN" altLang="en-US" sz="2000" b="0" dirty="0">
                <a:sym typeface="+mn-ea"/>
              </a:rPr>
              <a:t>快照区</a:t>
            </a:r>
            <a:endParaRPr lang="zh-CN" altLang="en-US" sz="2000" b="0" dirty="0"/>
          </a:p>
          <a:p>
            <a:pPr marL="0" indent="0">
              <a:buNone/>
            </a:pPr>
            <a:r>
              <a:rPr lang="zh-CN" altLang="en-US" sz="2000" b="0" dirty="0"/>
              <a:t>本项目中，对于不同状态下的文件，他们在各个区域的</a:t>
            </a:r>
            <a:r>
              <a:rPr lang="en-US" altLang="zh-CN" sz="2000" b="0" dirty="0"/>
              <a:t>blob</a:t>
            </a:r>
            <a:r>
              <a:rPr lang="zh-CN" altLang="en-US" sz="2000" b="0" dirty="0"/>
              <a:t>关系如下表</a:t>
            </a:r>
            <a:r>
              <a:rPr lang="zh-CN" altLang="en-US" sz="2000" b="0" dirty="0"/>
              <a:t>所示：</a:t>
            </a:r>
            <a:endParaRPr lang="zh-CN" altLang="en-US" sz="20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85215" y="3973195"/>
          <a:ext cx="983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文件状态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快照区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暂存区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工作区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文件状态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快照区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暂存区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工作区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初始状态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提交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 b="1">
                        <a:solidFill>
                          <a:srgbClr val="A62038"/>
                        </a:solidFill>
                        <a:sym typeface="+mn-ea"/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新建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修改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 b="1">
                        <a:solidFill>
                          <a:srgbClr val="A62038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0CFB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暂存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暂存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8E8E8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修改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删除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0CFBD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暂存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bg1"/>
                          </a:solidFill>
                        </a:rPr>
                        <a:t>新建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lnL w="19050">
                      <a:solidFill>
                        <a:schemeClr val="tx1"/>
                      </a:solidFill>
                      <a:prstDash val="solid"/>
                    </a:lnL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lnB>
                      <a:noFill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8" name="右弧形箭头 7"/>
          <p:cNvSpPr/>
          <p:nvPr/>
        </p:nvSpPr>
        <p:spPr>
          <a:xfrm>
            <a:off x="6624320" y="2162810"/>
            <a:ext cx="394335" cy="586740"/>
          </a:xfrm>
          <a:prstGeom prst="curvedLeftArrow">
            <a:avLst/>
          </a:prstGeom>
          <a:solidFill>
            <a:srgbClr val="175F8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右弧形箭头 8"/>
          <p:cNvSpPr/>
          <p:nvPr/>
        </p:nvSpPr>
        <p:spPr>
          <a:xfrm>
            <a:off x="6624320" y="2749550"/>
            <a:ext cx="394335" cy="586740"/>
          </a:xfrm>
          <a:prstGeom prst="curvedLeftArrow">
            <a:avLst/>
          </a:prstGeom>
          <a:solidFill>
            <a:srgbClr val="175F8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18655" y="2272030"/>
            <a:ext cx="355473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 sz="2000"/>
              <a:t>add</a:t>
            </a:r>
            <a:r>
              <a:rPr lang="zh-CN" altLang="en-US" sz="2000"/>
              <a:t>：</a:t>
            </a:r>
            <a:r>
              <a:rPr lang="en-US" altLang="zh-CN" sz="2000"/>
              <a:t>	   </a:t>
            </a:r>
            <a:r>
              <a:rPr lang="zh-CN" altLang="en-US" sz="2000"/>
              <a:t>暂存操作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7018655" y="2863850"/>
            <a:ext cx="3439795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 sz="2000"/>
              <a:t>commit</a:t>
            </a:r>
            <a:r>
              <a:rPr lang="zh-CN" altLang="en-US" sz="2000"/>
              <a:t>：提交操作</a:t>
            </a:r>
            <a:endParaRPr lang="zh-CN" altLang="en-US" sz="2000"/>
          </a:p>
        </p:txBody>
      </p:sp>
      <p:graphicFrame>
        <p:nvGraphicFramePr>
          <p:cNvPr id="14" name="表格 13"/>
          <p:cNvGraphicFramePr/>
          <p:nvPr/>
        </p:nvGraphicFramePr>
        <p:xfrm>
          <a:off x="2321560" y="473329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version_A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0CF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2321560" y="511429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version_A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version_A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/>
        </p:nvGraphicFramePr>
        <p:xfrm>
          <a:off x="2321560" y="549529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version_A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B</a:t>
                      </a:r>
                      <a:endParaRPr lang="en-US" altLang="zh-CN" sz="16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solidFill>
                      <a:srgbClr val="E0CF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2321560" y="5874385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B</a:t>
                      </a:r>
                      <a:endParaRPr lang="en-US" altLang="zh-CN" sz="16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sym typeface="+mn-ea"/>
                        </a:rPr>
                        <a:t>_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B</a:t>
                      </a:r>
                      <a:endParaRPr lang="en-US" altLang="zh-CN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lnR w="19050">
                      <a:solidFill>
                        <a:schemeClr val="tx1"/>
                      </a:solidFill>
                      <a:prstDash val="solid"/>
                    </a:lnR>
                    <a:lnB>
                      <a:noFill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7232015" y="435229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A62038"/>
                          </a:solidFill>
                          <a:sym typeface="+mn-ea"/>
                        </a:rPr>
                        <a:t>/</a:t>
                      </a:r>
                      <a:endParaRPr lang="en-US" altLang="zh-CN" sz="1600" b="1">
                        <a:solidFill>
                          <a:srgbClr val="A62038"/>
                        </a:solidFill>
                        <a:sym typeface="+mn-ea"/>
                      </a:endParaRPr>
                    </a:p>
                  </a:txBody>
                  <a:tcPr anchor="ctr" anchorCtr="0"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7232015" y="473329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A62038"/>
                          </a:solidFill>
                        </a:rPr>
                        <a:t>/</a:t>
                      </a:r>
                      <a:endParaRPr lang="en-US" altLang="zh-CN" sz="1600" b="1">
                        <a:solidFill>
                          <a:srgbClr val="A62038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version_C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0CF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/>
        </p:nvGraphicFramePr>
        <p:xfrm>
          <a:off x="7232015" y="5112385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version_C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version_C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7232015" y="5493385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0CFBD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solidFill>
                      <a:srgbClr val="E0CF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/>
        </p:nvGraphicFramePr>
        <p:xfrm>
          <a:off x="7232015" y="5872480"/>
          <a:ext cx="36880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version_B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B>
                      <a:noFill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version_D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R>
                      <a:noFill/>
                    </a:lnR>
                    <a:lnB>
                      <a:noFill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8" grpId="1" animBg="1"/>
      <p:bldP spid="10" grpId="1"/>
      <p:bldP spid="9" grpId="0" animBg="1"/>
      <p:bldP spid="11" grpId="0"/>
      <p:bldP spid="9" grpId="1" animBg="1"/>
      <p:bldP spid="1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Communication.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14"/>
          </p:nvPr>
        </p:nvSpPr>
        <p:spPr>
          <a:xfrm>
            <a:off x="892175" y="1431925"/>
            <a:ext cx="10678795" cy="592455"/>
          </a:xfrm>
        </p:spPr>
        <p:txBody>
          <a:bodyPr/>
          <a:p>
            <a:pPr marL="0" indent="0">
              <a:buNone/>
            </a:pPr>
            <a:r>
              <a:rPr lang="zh-CN" altLang="en-US"/>
              <a:t>下面由一串命令序列，一起来分析一下执行时</a:t>
            </a:r>
            <a:r>
              <a:rPr lang="en-US" altLang="zh-CN"/>
              <a:t>git</a:t>
            </a:r>
            <a:r>
              <a:rPr lang="zh-CN" altLang="en-US"/>
              <a:t>的</a:t>
            </a:r>
            <a:r>
              <a:rPr lang="zh-CN" altLang="en-US"/>
              <a:t>底层发生了</a:t>
            </a:r>
            <a:r>
              <a:rPr lang="zh-CN" altLang="en-US"/>
              <a:t>什么？</a:t>
            </a:r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096000" y="2100580"/>
            <a:ext cx="0" cy="4122420"/>
          </a:xfrm>
          <a:prstGeom prst="line">
            <a:avLst/>
          </a:prstGeom>
          <a:ln w="31750" cap="rnd">
            <a:solidFill>
              <a:srgbClr val="92D050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占位符 1"/>
          <p:cNvSpPr txBox="1"/>
          <p:nvPr/>
        </p:nvSpPr>
        <p:spPr>
          <a:xfrm>
            <a:off x="981710" y="2160905"/>
            <a:ext cx="4993005" cy="415861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init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init [note.txt] [A]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add note.txt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change [note.txt] [B]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commit "add note"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add note.txt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commit "update note"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gitlite branch dev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6217285" y="2160905"/>
            <a:ext cx="5106670" cy="415861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b="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4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20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A62038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- change [note.txt] [C]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gitlite add note.txt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gitlite commit "master change"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gitlite checkout dev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- change [note.txt] [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A]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gitlite add note.txt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gitlite commit "dev change"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41" grpId="0"/>
      <p:bldP spid="7" grpId="0"/>
      <p:bldP spid="41" grpId="1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4000" dirty="0"/>
              <a:t>Gitlite </a:t>
            </a:r>
            <a:r>
              <a:rPr lang="zh-CN" altLang="en-US" sz="4000" dirty="0"/>
              <a:t>相关</a:t>
            </a:r>
            <a:endParaRPr lang="zh-CN" altLang="en-US" sz="40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457200">
              <a:lnSpc>
                <a:spcPct val="125000"/>
              </a:lnSpc>
            </a:pP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大作业的注意事项与评分</a:t>
            </a:r>
            <a:r>
              <a:rPr lang="zh-CN" altLang="en-US" sz="1800" spc="28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1800" spc="28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1155223" y="1859603"/>
            <a:ext cx="11666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顶角 7"/>
          <p:cNvSpPr/>
          <p:nvPr/>
        </p:nvSpPr>
        <p:spPr>
          <a:xfrm flipV="1">
            <a:off x="820985" y="2801162"/>
            <a:ext cx="48019" cy="84595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bg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602"/>
          <p:cNvSpPr txBox="1"/>
          <p:nvPr/>
        </p:nvSpPr>
        <p:spPr>
          <a:xfrm>
            <a:off x="342900" y="862931"/>
            <a:ext cx="3408525" cy="2107268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0</a:t>
            </a:r>
            <a:r>
              <a:rPr lang="en-US" altLang="zh-CN" sz="13100" b="1" i="0" dirty="0">
                <a:gradFill flip="none" rotWithShape="1">
                  <a:gsLst>
                    <a:gs pos="0">
                      <a:srgbClr val="D7C1A9"/>
                    </a:gs>
                    <a:gs pos="74418">
                      <a:srgbClr val="D7C1A9">
                        <a:alpha val="0"/>
                      </a:srgbClr>
                    </a:gs>
                  </a:gsLst>
                  <a:lin ang="5400000"/>
                </a:gradFill>
                <a:latin typeface="+mj-ea"/>
                <a:ea typeface="+mj-ea"/>
              </a:rPr>
              <a:t>4</a:t>
            </a:r>
            <a:endParaRPr lang="en-US" altLang="zh-CN" sz="13100" b="1" i="0" dirty="0">
              <a:gradFill flip="none" rotWithShape="1">
                <a:gsLst>
                  <a:gs pos="0">
                    <a:srgbClr val="D7C1A9"/>
                  </a:gs>
                  <a:gs pos="74418">
                    <a:srgbClr val="D7C1A9">
                      <a:alpha val="0"/>
                    </a:srgbClr>
                  </a:gs>
                </a:gsLst>
                <a:lin ang="5400000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.gitliteignore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481139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类似于真实的</a:t>
            </a:r>
            <a:r>
              <a:rPr lang="en-US" altLang="zh-CN" dirty="0"/>
              <a:t>.gitignore</a:t>
            </a:r>
            <a:r>
              <a:rPr lang="zh-CN" altLang="en-US" dirty="0"/>
              <a:t>，我们也要允许解析</a:t>
            </a:r>
            <a:r>
              <a:rPr lang="en-US" altLang="zh-CN" dirty="0"/>
              <a:t>.gitliteignore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en-US" altLang="zh-CN" sz="2000" dirty="0"/>
              <a:t> 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dirty="0"/>
              <a:t>你需要把文件中提到的所有文件（包括以表达式方式表示的一批文件）进行忽略，保证这些文件不会被</a:t>
            </a:r>
            <a:r>
              <a:rPr lang="en-US" altLang="zh-CN" sz="2000" b="0" dirty="0"/>
              <a:t>gitlite</a:t>
            </a:r>
            <a:r>
              <a:rPr lang="zh-CN" altLang="en-US" sz="2000" b="0" dirty="0"/>
              <a:t>追踪</a:t>
            </a:r>
            <a:r>
              <a:rPr lang="zh-CN" altLang="en-US" sz="2000" b="0" dirty="0"/>
              <a:t>保存</a:t>
            </a:r>
            <a:endParaRPr lang="zh-CN" altLang="en-US" sz="20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dirty="0"/>
              <a:t>若有无法匹配任何文件的规则，不考虑它的</a:t>
            </a:r>
            <a:r>
              <a:rPr lang="zh-CN" altLang="en-US" sz="2000" b="0" dirty="0"/>
              <a:t>生效</a:t>
            </a:r>
            <a:endParaRPr lang="zh-CN" altLang="en-US" sz="20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dirty="0"/>
              <a:t>文件不存在时，默认没有忽略</a:t>
            </a:r>
            <a:r>
              <a:rPr lang="zh-CN" altLang="en-US" sz="2000" b="0" dirty="0"/>
              <a:t>规则</a:t>
            </a:r>
            <a:endParaRPr lang="zh-CN" altLang="en-US" sz="2000" b="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dirty="0"/>
              <a:t>所有的忽略规则在</a:t>
            </a:r>
            <a:r>
              <a:rPr lang="en-US" altLang="zh-CN" sz="2000" b="0" dirty="0"/>
              <a:t>README.md</a:t>
            </a:r>
            <a:r>
              <a:rPr lang="zh-CN" altLang="en-US" sz="2000" b="0" dirty="0"/>
              <a:t>中有详细描述，这里</a:t>
            </a:r>
            <a:r>
              <a:rPr lang="zh-CN" altLang="en-US" sz="2000" b="0" dirty="0"/>
              <a:t>不做解释</a:t>
            </a:r>
            <a:br>
              <a:rPr lang="zh-CN" altLang="en-US" sz="2000" b="0" dirty="0"/>
            </a:br>
            <a:endParaRPr lang="zh-CN" altLang="en-US" sz="2000" b="0" dirty="0"/>
          </a:p>
          <a:p>
            <a:pPr marL="0" indent="0">
              <a:buNone/>
            </a:pPr>
            <a:r>
              <a:rPr lang="zh-CN" altLang="en-US" sz="1800" b="0" dirty="0">
                <a:solidFill>
                  <a:srgbClr val="92D050"/>
                </a:solidFill>
              </a:rPr>
              <a:t>&gt;</a:t>
            </a:r>
            <a:r>
              <a:rPr lang="zh-CN" altLang="en-US" sz="1800" b="0" dirty="0">
                <a:solidFill>
                  <a:schemeClr val="bg2">
                    <a:lumMod val="75000"/>
                  </a:schemeClr>
                </a:solidFill>
              </a:rPr>
              <a:t> 读取</a:t>
            </a:r>
            <a:r>
              <a:rPr lang="en-US" altLang="zh-CN" sz="1800" b="0" dirty="0">
                <a:solidFill>
                  <a:schemeClr val="bg2">
                    <a:lumMod val="75000"/>
                  </a:schemeClr>
                </a:solidFill>
              </a:rPr>
              <a:t>.gitliteignore</a:t>
            </a:r>
            <a:r>
              <a:rPr lang="zh-CN" altLang="en-US" sz="1800" b="0" dirty="0">
                <a:solidFill>
                  <a:schemeClr val="bg2">
                    <a:lumMod val="75000"/>
                  </a:schemeClr>
                </a:solidFill>
              </a:rPr>
              <a:t>文件请学会利用已有的功能函数，解析语法的代码就是实现一个</a:t>
            </a:r>
            <a:r>
              <a:rPr lang="zh-CN" altLang="en-US" sz="1800" b="0" dirty="0">
                <a:solidFill>
                  <a:schemeClr val="bg2">
                    <a:lumMod val="75000"/>
                  </a:schemeClr>
                </a:solidFill>
              </a:rPr>
              <a:t>小型的解释器，这会对你们下一</a:t>
            </a:r>
            <a:r>
              <a:rPr lang="zh-CN" altLang="en-US" sz="1800" b="0" dirty="0">
                <a:solidFill>
                  <a:schemeClr val="bg2">
                    <a:lumMod val="75000"/>
                  </a:schemeClr>
                </a:solidFill>
              </a:rPr>
              <a:t>个大作业有所帮助：）</a:t>
            </a:r>
            <a:endParaRPr lang="zh-CN" altLang="en-US" sz="18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CMakeLists.txt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547985" cy="481139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0" dirty="0">
                <a:solidFill>
                  <a:schemeClr val="tx1"/>
                </a:solidFill>
              </a:rPr>
              <a:t>为了能正确完成测评，你的编译产物有两个要求：</a:t>
            </a:r>
            <a:r>
              <a:rPr lang="zh-CN" altLang="en-US" sz="2000" dirty="0">
                <a:solidFill>
                  <a:srgbClr val="A62038"/>
                </a:solidFill>
              </a:rPr>
              <a:t>（</a:t>
            </a:r>
            <a:r>
              <a:rPr lang="en-US" altLang="zh-CN" sz="2000" dirty="0">
                <a:solidFill>
                  <a:srgbClr val="A62038"/>
                </a:solidFill>
              </a:rPr>
              <a:t>Linux</a:t>
            </a:r>
            <a:r>
              <a:rPr lang="zh-CN" altLang="en-US" sz="2000" dirty="0">
                <a:solidFill>
                  <a:srgbClr val="A62038"/>
                </a:solidFill>
              </a:rPr>
              <a:t>环境）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i="1" dirty="0">
                <a:solidFill>
                  <a:srgbClr val="92D050"/>
                </a:solidFill>
              </a:rPr>
              <a:t>1.</a:t>
            </a:r>
            <a:r>
              <a:rPr lang="en-US" altLang="zh-CN" sz="2000" b="0" dirty="0">
                <a:solidFill>
                  <a:schemeClr val="tx1"/>
                </a:solidFill>
              </a:rPr>
              <a:t> </a:t>
            </a:r>
            <a:r>
              <a:rPr lang="zh-CN" altLang="en-US" sz="2000" b="0" dirty="0">
                <a:solidFill>
                  <a:schemeClr val="tx1"/>
                </a:solidFill>
              </a:rPr>
              <a:t>在</a:t>
            </a:r>
            <a:r>
              <a:rPr lang="en-US" altLang="zh-CN" sz="2000" dirty="0">
                <a:solidFill>
                  <a:schemeClr val="tx1"/>
                </a:solidFill>
              </a:rPr>
              <a:t>build/</a:t>
            </a:r>
            <a:r>
              <a:rPr lang="zh-CN" altLang="en-US" sz="2000" dirty="0">
                <a:solidFill>
                  <a:schemeClr val="tx1"/>
                </a:solidFill>
              </a:rPr>
              <a:t>文件夹</a:t>
            </a:r>
            <a:r>
              <a:rPr lang="zh-CN" altLang="en-US" sz="2000" b="0" dirty="0">
                <a:solidFill>
                  <a:schemeClr val="tx1"/>
                </a:solidFill>
              </a:rPr>
              <a:t>中生成可执行文件</a:t>
            </a:r>
            <a:r>
              <a:rPr lang="en-US" altLang="zh-CN" sz="2000" dirty="0">
                <a:solidFill>
                  <a:schemeClr val="tx1"/>
                </a:solidFill>
              </a:rPr>
              <a:t>gitlite</a:t>
            </a:r>
            <a:br>
              <a:rPr lang="en-US" altLang="zh-CN" sz="2000" b="0" dirty="0">
                <a:solidFill>
                  <a:schemeClr val="tx1"/>
                </a:solidFill>
              </a:rPr>
            </a:br>
            <a:r>
              <a:rPr lang="en-US" altLang="zh-CN" sz="2000" i="1" dirty="0">
                <a:solidFill>
                  <a:srgbClr val="92D050"/>
                </a:solidFill>
              </a:rPr>
              <a:t>2.</a:t>
            </a:r>
            <a:r>
              <a:rPr lang="en-US" altLang="zh-CN" sz="2000" b="0" dirty="0">
                <a:solidFill>
                  <a:schemeClr val="tx1"/>
                </a:solidFill>
              </a:rPr>
              <a:t> </a:t>
            </a:r>
            <a:r>
              <a:rPr lang="zh-CN" altLang="en-US" sz="2000" b="0" dirty="0">
                <a:solidFill>
                  <a:schemeClr val="tx1"/>
                </a:solidFill>
              </a:rPr>
              <a:t>将该可执行文件复制到</a:t>
            </a:r>
            <a:r>
              <a:rPr lang="zh-CN" altLang="en-US" sz="2000" dirty="0">
                <a:solidFill>
                  <a:schemeClr val="tx1"/>
                </a:solidFill>
              </a:rPr>
              <a:t>根目录</a:t>
            </a:r>
            <a:r>
              <a:rPr lang="zh-CN" altLang="en-US" sz="2000" b="0" dirty="0">
                <a:solidFill>
                  <a:schemeClr val="tx1"/>
                </a:solidFill>
              </a:rPr>
              <a:t>并命名为</a:t>
            </a:r>
            <a:r>
              <a:rPr lang="en-US" altLang="zh-CN" sz="2000" dirty="0">
                <a:solidFill>
                  <a:schemeClr val="tx1"/>
                </a:solidFill>
              </a:rPr>
              <a:t>code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0" dirty="0">
                <a:solidFill>
                  <a:schemeClr val="tx1"/>
                </a:solidFill>
              </a:rPr>
              <a:t>为了便于各位测评，实现要求</a:t>
            </a:r>
            <a:r>
              <a:rPr lang="en-US" altLang="zh-CN" sz="2000" b="0" dirty="0">
                <a:solidFill>
                  <a:schemeClr val="tx1"/>
                </a:solidFill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</a:rPr>
              <a:t>的模板已经在</a:t>
            </a:r>
            <a:r>
              <a:rPr lang="en-US" altLang="zh-CN" sz="2000" b="0" dirty="0">
                <a:solidFill>
                  <a:schemeClr val="tx1"/>
                </a:solidFill>
              </a:rPr>
              <a:t>CMakeLists.txt</a:t>
            </a:r>
            <a:r>
              <a:rPr lang="zh-CN" altLang="en-US" sz="2000" b="0" dirty="0">
                <a:solidFill>
                  <a:schemeClr val="tx1"/>
                </a:solidFill>
              </a:rPr>
              <a:t>中给出，除非你有明确目的，否则</a:t>
            </a:r>
            <a:r>
              <a:rPr lang="zh-CN" altLang="en-US" sz="2000" dirty="0">
                <a:solidFill>
                  <a:srgbClr val="A62038"/>
                </a:solidFill>
              </a:rPr>
              <a:t>请不要修改模板</a:t>
            </a:r>
            <a:r>
              <a:rPr lang="zh-CN" altLang="en-US" sz="2000" b="0" dirty="0">
                <a:solidFill>
                  <a:schemeClr val="tx1"/>
                </a:solidFill>
              </a:rPr>
              <a:t>，只在那之前补充完成你编译生成</a:t>
            </a:r>
            <a:r>
              <a:rPr lang="en-US" altLang="zh-CN" sz="2000" b="0" dirty="0">
                <a:solidFill>
                  <a:schemeClr val="tx1"/>
                </a:solidFill>
              </a:rPr>
              <a:t>build/gitlite</a:t>
            </a:r>
            <a:r>
              <a:rPr lang="zh-CN" altLang="en-US" sz="2000" b="0" dirty="0">
                <a:solidFill>
                  <a:schemeClr val="tx1"/>
                </a:solidFill>
              </a:rPr>
              <a:t>需要的</a:t>
            </a:r>
            <a:r>
              <a:rPr lang="zh-CN" altLang="en-US" sz="2000" b="0" dirty="0">
                <a:solidFill>
                  <a:schemeClr val="tx1"/>
                </a:solidFill>
              </a:rPr>
              <a:t>命令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92D050"/>
                </a:solidFill>
              </a:rPr>
              <a:t>&gt;</a:t>
            </a:r>
            <a:r>
              <a:rPr lang="en-US" altLang="zh-CN" sz="2000" b="0" dirty="0">
                <a:solidFill>
                  <a:schemeClr val="tx1"/>
                </a:solidFill>
              </a:rPr>
              <a:t> </a:t>
            </a:r>
            <a:r>
              <a:rPr lang="zh-CN" altLang="en-US" sz="2000" b="0" dirty="0">
                <a:solidFill>
                  <a:schemeClr val="tx1"/>
                </a:solidFill>
              </a:rPr>
              <a:t>本地发放了一组测试点，你可以用</a:t>
            </a:r>
            <a:r>
              <a:rPr lang="en-US" altLang="zh-CN" sz="2000" b="0" dirty="0">
                <a:solidFill>
                  <a:schemeClr val="tx1"/>
                </a:solidFill>
              </a:rPr>
              <a:t>README</a:t>
            </a:r>
            <a:r>
              <a:rPr lang="zh-CN" altLang="en-US" sz="2000" b="0" dirty="0">
                <a:solidFill>
                  <a:schemeClr val="tx1"/>
                </a:solidFill>
              </a:rPr>
              <a:t>中的方法进行自测。</a:t>
            </a:r>
            <a:r>
              <a:rPr lang="zh-CN" altLang="en-US" sz="2000" dirty="0">
                <a:solidFill>
                  <a:schemeClr val="tx1"/>
                </a:solidFill>
              </a:rPr>
              <a:t>但请注意，这不是最终的测试点</a:t>
            </a:r>
            <a:r>
              <a:rPr lang="zh-CN" altLang="en-US" sz="2000" b="0" dirty="0">
                <a:solidFill>
                  <a:schemeClr val="tx1"/>
                </a:solidFill>
              </a:rPr>
              <a:t>，在本地测试通过之后，请及时在</a:t>
            </a:r>
            <a:r>
              <a:rPr lang="en-US" altLang="zh-CN" sz="2000" b="0" dirty="0">
                <a:solidFill>
                  <a:schemeClr val="tx1"/>
                </a:solidFill>
              </a:rPr>
              <a:t>ACMOJ</a:t>
            </a:r>
            <a:r>
              <a:rPr lang="zh-CN" altLang="en-US" sz="2000" b="0" dirty="0">
                <a:solidFill>
                  <a:schemeClr val="tx1"/>
                </a:solidFill>
              </a:rPr>
              <a:t>上测试，有可能会有错误出现，便于及时调整，代码完成的评分以</a:t>
            </a:r>
            <a:r>
              <a:rPr lang="en-US" altLang="zh-CN" sz="2000" b="0" dirty="0">
                <a:solidFill>
                  <a:schemeClr val="tx1"/>
                </a:solidFill>
              </a:rPr>
              <a:t>ACMOJ</a:t>
            </a:r>
            <a:r>
              <a:rPr lang="zh-CN" altLang="en-US" sz="2000" b="0" dirty="0">
                <a:solidFill>
                  <a:schemeClr val="tx1"/>
                </a:solidFill>
              </a:rPr>
              <a:t>评分</a:t>
            </a:r>
            <a:r>
              <a:rPr lang="zh-CN" altLang="en-US" sz="2000" b="0" dirty="0">
                <a:solidFill>
                  <a:schemeClr val="tx1"/>
                </a:solidFill>
              </a:rPr>
              <a:t>为准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Warning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289050"/>
            <a:ext cx="10399395" cy="5327015"/>
          </a:xfrm>
        </p:spPr>
        <p:txBody>
          <a:bodyPr/>
          <a:lstStyle/>
          <a:p>
            <a:r>
              <a:rPr lang="zh-CN" altLang="en-US" dirty="0"/>
              <a:t>代码</a:t>
            </a:r>
            <a:r>
              <a:rPr lang="zh-CN" altLang="en-US" dirty="0"/>
              <a:t>相关：</a:t>
            </a:r>
            <a:endParaRPr lang="zh-CN" altLang="en-US" dirty="0"/>
          </a:p>
          <a:p>
            <a:pPr lvl="1"/>
            <a:r>
              <a:rPr lang="zh-CN" altLang="en-US" sz="2000" dirty="0"/>
              <a:t>请在项目开始前设计好整体的代码</a:t>
            </a:r>
            <a:r>
              <a:rPr lang="zh-CN" altLang="en-US" sz="2000" dirty="0"/>
              <a:t>文件架构和</a:t>
            </a:r>
            <a:r>
              <a:rPr lang="en-US" altLang="zh-CN" sz="2000" dirty="0">
                <a:sym typeface="+mn-ea"/>
              </a:rPr>
              <a:t>.gitlite</a:t>
            </a:r>
            <a:r>
              <a:rPr lang="zh-CN" altLang="en-US" sz="2000" dirty="0">
                <a:sym typeface="+mn-ea"/>
              </a:rPr>
              <a:t>文件夹架构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A62038"/>
                </a:solidFill>
              </a:rPr>
              <a:t>非常不推荐</a:t>
            </a:r>
            <a:r>
              <a:rPr lang="zh-CN" altLang="en-US" sz="2000" dirty="0"/>
              <a:t>在给出的接口</a:t>
            </a:r>
            <a:r>
              <a:rPr lang="zh-CN" altLang="en-US" sz="2000" dirty="0"/>
              <a:t>文件中完成所有的功能与辅助函数</a:t>
            </a:r>
            <a:endParaRPr lang="zh-CN" altLang="en-US" sz="2000" dirty="0"/>
          </a:p>
          <a:p>
            <a:pPr lvl="1"/>
            <a:r>
              <a:rPr lang="zh-CN" altLang="en-US" sz="2000" dirty="0"/>
              <a:t>请学会合理运用给出的代码和复用自己写的代码（</a:t>
            </a:r>
            <a:r>
              <a:rPr lang="zh-CN" altLang="en-US" sz="2000" dirty="0"/>
              <a:t>辅助函数）</a:t>
            </a:r>
            <a:endParaRPr lang="zh-CN" altLang="en-US" sz="2000" dirty="0"/>
          </a:p>
          <a:p>
            <a:pPr lvl="1"/>
            <a:r>
              <a:rPr lang="zh-CN" altLang="en-US" sz="2000" dirty="0"/>
              <a:t>请合理运用</a:t>
            </a:r>
            <a:r>
              <a:rPr lang="en-US" altLang="zh-CN" sz="2000" dirty="0"/>
              <a:t>C++</a:t>
            </a:r>
            <a:r>
              <a:rPr lang="zh-CN" altLang="en-US" sz="2000" dirty="0"/>
              <a:t>的内置函数库，这会很有帮助</a:t>
            </a:r>
            <a:r>
              <a:rPr lang="zh-CN" altLang="en-US" sz="2000" b="1" dirty="0"/>
              <a:t>（想使用</a:t>
            </a:r>
            <a:r>
              <a:rPr lang="en-US" altLang="zh-CN" sz="2000" b="1" dirty="0"/>
              <a:t>unordered_map</a:t>
            </a:r>
            <a:r>
              <a:rPr lang="zh-CN" altLang="en-US" sz="2000" b="1" dirty="0"/>
              <a:t>之前请三思）</a:t>
            </a:r>
            <a:endParaRPr lang="zh-CN" altLang="en-US" sz="2000" b="1" dirty="0"/>
          </a:p>
          <a:p>
            <a:pPr lvl="1"/>
            <a:r>
              <a:rPr lang="zh-CN" altLang="en-US" sz="2000" dirty="0"/>
              <a:t>强烈推荐边写项目边完成设计文档，并且</a:t>
            </a:r>
            <a:r>
              <a:rPr lang="zh-CN" altLang="en-US" sz="2000" dirty="0"/>
              <a:t>在程序中仔细</a:t>
            </a:r>
            <a:r>
              <a:rPr lang="zh-CN" altLang="en-US" sz="2000" b="1" dirty="0">
                <a:solidFill>
                  <a:srgbClr val="A62038"/>
                </a:solidFill>
              </a:rPr>
              <a:t>注释</a:t>
            </a:r>
            <a:r>
              <a:rPr lang="zh-CN" altLang="en-US" sz="2000" dirty="0"/>
              <a:t>！！</a:t>
            </a:r>
            <a:endParaRPr lang="zh-CN" altLang="en-US" sz="2000" dirty="0"/>
          </a:p>
          <a:p>
            <a:pPr lvl="0"/>
            <a:r>
              <a:rPr lang="zh-CN" altLang="en-US" sz="2180" dirty="0"/>
              <a:t>功能</a:t>
            </a:r>
            <a:r>
              <a:rPr lang="zh-CN" altLang="en-US" sz="2180" dirty="0"/>
              <a:t>相关</a:t>
            </a:r>
            <a:endParaRPr lang="zh-CN" altLang="en-US" sz="2180" dirty="0"/>
          </a:p>
          <a:p>
            <a:pPr lvl="1"/>
            <a:r>
              <a:rPr lang="zh-CN" altLang="en-US" sz="1995" dirty="0"/>
              <a:t>请在开始前</a:t>
            </a:r>
            <a:r>
              <a:rPr lang="zh-CN" altLang="en-US" sz="1995" b="1" dirty="0">
                <a:solidFill>
                  <a:srgbClr val="A62038"/>
                </a:solidFill>
              </a:rPr>
              <a:t>仔细阅读</a:t>
            </a:r>
            <a:r>
              <a:rPr lang="en-US" altLang="zh-CN" sz="1995" b="1" dirty="0">
                <a:solidFill>
                  <a:srgbClr val="A62038"/>
                </a:solidFill>
              </a:rPr>
              <a:t> README.md</a:t>
            </a:r>
            <a:r>
              <a:rPr lang="zh-CN" altLang="en-US" sz="1995" dirty="0"/>
              <a:t>，我们的轻量级</a:t>
            </a:r>
            <a:r>
              <a:rPr lang="en-US" altLang="zh-CN" sz="1995" dirty="0"/>
              <a:t>gitlite</a:t>
            </a:r>
            <a:r>
              <a:rPr lang="zh-CN" altLang="en-US" sz="1995" dirty="0"/>
              <a:t>有诸多实现为了减轻工作量与实际的</a:t>
            </a:r>
            <a:r>
              <a:rPr lang="en-US" altLang="zh-CN" sz="1995" dirty="0"/>
              <a:t>git</a:t>
            </a:r>
            <a:r>
              <a:rPr lang="zh-CN" altLang="en-US" sz="1995" dirty="0"/>
              <a:t>操作有</a:t>
            </a:r>
            <a:r>
              <a:rPr lang="zh-CN" altLang="en-US" sz="1995" dirty="0"/>
              <a:t>出入</a:t>
            </a:r>
            <a:endParaRPr lang="zh-CN" altLang="en-US" sz="1995" dirty="0"/>
          </a:p>
          <a:p>
            <a:pPr lvl="1"/>
            <a:r>
              <a:rPr lang="zh-CN" altLang="en-US" sz="1995" dirty="0"/>
              <a:t>本地测试点</a:t>
            </a:r>
            <a:r>
              <a:rPr lang="zh-CN" altLang="en-US" sz="1995" dirty="0"/>
              <a:t>较弱，学会自己构造样例</a:t>
            </a:r>
            <a:r>
              <a:rPr lang="zh-CN" altLang="en-US" sz="1995" dirty="0"/>
              <a:t>测试！</a:t>
            </a:r>
            <a:endParaRPr lang="zh-CN" altLang="en-US" sz="1995" dirty="0"/>
          </a:p>
          <a:p>
            <a:pPr marL="0" lvl="1" indent="0" algn="ctr">
              <a:buNone/>
            </a:pPr>
            <a:endParaRPr lang="zh-CN" altLang="en-US" sz="2800" b="1" i="1" dirty="0">
              <a:solidFill>
                <a:srgbClr val="A62038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Scoring </a:t>
            </a:r>
            <a:r>
              <a:rPr lang="en-US" altLang="zh-CN" dirty="0"/>
              <a:t>Rubric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399395" cy="5657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本次大作业按照功能的实现程度分点给分，客观部分规则如下：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1461770" y="2390140"/>
            <a:ext cx="4284345" cy="252222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Basic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部分：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92D050"/>
                </a:solidFill>
              </a:rPr>
              <a:t>&gt;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五个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subtask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，分别占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10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、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10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、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15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、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15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、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15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分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92D050"/>
                </a:solidFill>
              </a:rPr>
              <a:t>&gt;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 Complement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部分，主要为交叉检验，占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10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分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6647180" y="2390140"/>
            <a:ext cx="4284345" cy="2522220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Bonus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部分：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92D050"/>
                </a:solidFill>
              </a:rPr>
              <a:t>&gt;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两个选择，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remote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和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diff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二选一完成即可得到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15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分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92D050"/>
                </a:solidFill>
              </a:rPr>
              <a:t>&gt;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无法通过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分别完成一部分来获取满分（请精益求精</a:t>
            </a:r>
            <a:r>
              <a:rPr lang="en-US" altLang="zh-CN" sz="2000" b="0" dirty="0">
                <a:solidFill>
                  <a:schemeClr val="bg2">
                    <a:lumMod val="25000"/>
                  </a:schemeClr>
                </a:solidFill>
              </a:rPr>
              <a:t>bushi</a:t>
            </a:r>
            <a:r>
              <a:rPr lang="zh-CN" altLang="en-US" sz="2000" b="0" dirty="0">
                <a:solidFill>
                  <a:schemeClr val="bg2">
                    <a:lumMod val="25000"/>
                  </a:schemeClr>
                </a:solidFill>
              </a:rPr>
              <a:t>）</a:t>
            </a:r>
            <a:endParaRPr lang="zh-CN" altLang="en-US" sz="2000" b="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096635" y="2423795"/>
            <a:ext cx="0" cy="2387600"/>
          </a:xfrm>
          <a:prstGeom prst="line">
            <a:avLst/>
          </a:prstGeom>
          <a:ln w="6350" cap="flat" cmpd="sng" algn="ctr">
            <a:solidFill>
              <a:srgbClr val="92D05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占位符 2"/>
          <p:cNvSpPr>
            <a:spLocks noGrp="1"/>
          </p:cNvSpPr>
          <p:nvPr/>
        </p:nvSpPr>
        <p:spPr>
          <a:xfrm>
            <a:off x="896620" y="5198745"/>
            <a:ext cx="10399395" cy="565785"/>
          </a:xfrm>
          <a:prstGeom prst="rect">
            <a:avLst/>
          </a:prstGeom>
        </p:spPr>
        <p:txBody>
          <a:bodyPr/>
          <a:lstStyle>
            <a:lvl1pPr marL="363855" indent="-363855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rgbClr val="92D050"/>
              </a:buClr>
              <a:buFont typeface="Wingdings" panose="05000000000000000000" pitchFamily="2" charset="2"/>
              <a:buChar char="p"/>
              <a:defRPr sz="2400" b="1" kern="1200" spc="3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2200" kern="1200" spc="3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8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6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rgbClr val="92D050"/>
              </a:buClr>
              <a:buFont typeface="Arial" panose="020B0604020202020204" pitchFamily="34" charset="0"/>
              <a:buChar char="•"/>
              <a:defRPr sz="1400" kern="1200" spc="3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对于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Code Style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和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Report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合计占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5pts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，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Code Review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占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15pts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5" grpId="0"/>
      <p:bldP spid="6" grpId="1"/>
      <p:bldP spid="5" grpId="1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Requirements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1017905" y="1498600"/>
            <a:ext cx="10689590" cy="48113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Deadline</a:t>
            </a:r>
            <a:r>
              <a:rPr lang="zh-CN" altLang="en-US" sz="2000" dirty="0"/>
              <a:t>：</a:t>
            </a:r>
            <a:r>
              <a:rPr lang="en-US" altLang="zh-CN" sz="2000" i="1" dirty="0">
                <a:solidFill>
                  <a:srgbClr val="A62038"/>
                </a:solidFill>
              </a:rPr>
              <a:t>2026-12-02 18:30</a:t>
            </a:r>
            <a:endParaRPr lang="en-US" altLang="zh-CN" sz="2000" i="1" dirty="0">
              <a:solidFill>
                <a:srgbClr val="A62038"/>
              </a:solidFill>
            </a:endParaRPr>
          </a:p>
          <a:p>
            <a:pPr marL="0" indent="0">
              <a:buNone/>
            </a:pPr>
            <a:r>
              <a:rPr lang="zh-CN" altLang="en-US" sz="2000" b="0" dirty="0">
                <a:solidFill>
                  <a:schemeClr val="tx1"/>
                </a:solidFill>
              </a:rPr>
              <a:t>初始仓库地址：</a:t>
            </a:r>
            <a:r>
              <a:rPr lang="en-US" altLang="zh-CN" sz="2000" b="0" dirty="0">
                <a:solidFill>
                  <a:schemeClr val="tx1"/>
                </a:solidFill>
                <a:hlinkClick r:id="rId1" action="ppaction://hlinkfile"/>
              </a:rPr>
              <a:t>https://github.com/SJTUJohnClass/gitlite.git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0" dirty="0">
                <a:solidFill>
                  <a:schemeClr val="tx1"/>
                </a:solidFill>
              </a:rPr>
              <a:t>提交测评</a:t>
            </a:r>
            <a:r>
              <a:rPr lang="zh-CN" altLang="en-US" sz="2000" b="0" dirty="0">
                <a:solidFill>
                  <a:schemeClr val="tx1"/>
                </a:solidFill>
              </a:rPr>
              <a:t>计分：</a:t>
            </a:r>
            <a:r>
              <a:rPr lang="en-US" altLang="zh-CN" sz="2000" b="0" i="1" dirty="0">
                <a:solidFill>
                  <a:schemeClr val="tx1"/>
                </a:solidFill>
                <a:hlinkClick r:id="rId2" action="ppaction://hlinkfile"/>
              </a:rPr>
              <a:t>https://acm.sjtu.edu.cn/OnlineJudge/problem/3226</a:t>
            </a:r>
            <a:endParaRPr lang="en-US" altLang="zh-CN" sz="2000" b="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本</a:t>
            </a:r>
            <a:r>
              <a:rPr lang="en-US" altLang="zh-CN" sz="2000" dirty="0">
                <a:solidFill>
                  <a:schemeClr val="tx1"/>
                </a:solidFill>
              </a:rPr>
              <a:t>ppt</a:t>
            </a:r>
            <a:r>
              <a:rPr lang="zh-CN" altLang="en-US" sz="2000" dirty="0">
                <a:solidFill>
                  <a:schemeClr val="tx1"/>
                </a:solidFill>
              </a:rPr>
              <a:t>以外</a:t>
            </a:r>
            <a:r>
              <a:rPr lang="zh-CN" altLang="en-US" sz="2000" dirty="0">
                <a:solidFill>
                  <a:schemeClr val="tx1"/>
                </a:solidFill>
              </a:rPr>
              <a:t>的参考资料：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2000" b="0" dirty="0">
                <a:solidFill>
                  <a:schemeClr val="tx1"/>
                </a:solidFill>
              </a:rPr>
              <a:t>README.md(</a:t>
            </a:r>
            <a:r>
              <a:rPr lang="en-US" altLang="zh-CN" sz="2000" b="0" dirty="0">
                <a:solidFill>
                  <a:schemeClr val="tx1"/>
                </a:solidFill>
                <a:hlinkClick r:id="rId3" action="ppaction://hlinkfile"/>
              </a:rPr>
              <a:t>https://notes.sjtu.edu.cn/SY1ABBcOQxSEcg3c7wP7Kg</a:t>
            </a:r>
            <a:r>
              <a:rPr lang="en-US" altLang="zh-CN" sz="2000" b="0" dirty="0">
                <a:solidFill>
                  <a:schemeClr val="tx1"/>
                </a:solidFill>
              </a:rPr>
              <a:t>)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2000" b="0" dirty="0">
                <a:solidFill>
                  <a:schemeClr val="tx1"/>
                </a:solidFill>
              </a:rPr>
              <a:t>Git</a:t>
            </a:r>
            <a:r>
              <a:rPr lang="zh-CN" altLang="en-US" sz="2000" b="0" dirty="0">
                <a:solidFill>
                  <a:schemeClr val="tx1"/>
                </a:solidFill>
              </a:rPr>
              <a:t>傻瓜教程</a:t>
            </a:r>
            <a:r>
              <a:rPr lang="en-US" altLang="zh-CN" sz="2000" b="0" dirty="0">
                <a:solidFill>
                  <a:schemeClr val="tx1"/>
                </a:solidFill>
              </a:rPr>
              <a:t>(</a:t>
            </a:r>
            <a:r>
              <a:rPr lang="en-US" altLang="zh-CN" sz="2000" b="0" dirty="0">
                <a:solidFill>
                  <a:schemeClr val="tx1"/>
                </a:solidFill>
                <a:hlinkClick r:id="rId4" action="ppaction://hlinkfile"/>
              </a:rPr>
              <a:t>https://notes.sjtu.edu.cn/SG0OCEhHRCqcsE30CToLxA</a:t>
            </a:r>
            <a:r>
              <a:rPr lang="en-US" altLang="zh-CN" sz="2000" b="0" dirty="0">
                <a:solidFill>
                  <a:schemeClr val="tx1"/>
                </a:solidFill>
              </a:rPr>
              <a:t>)</a:t>
            </a:r>
            <a:br>
              <a:rPr lang="en-US" altLang="zh-CN" sz="2000" b="0" dirty="0">
                <a:solidFill>
                  <a:schemeClr val="tx1"/>
                </a:solidFill>
              </a:rPr>
            </a:br>
            <a:endParaRPr lang="en-US" altLang="zh-CN" sz="2000" b="0" i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zh-CN" altLang="en-US" i="1" dirty="0">
                <a:solidFill>
                  <a:srgbClr val="A62038"/>
                </a:solidFill>
                <a:sym typeface="+mn-ea"/>
              </a:rPr>
              <a:t>合理安排时间！！</a:t>
            </a:r>
            <a:r>
              <a:rPr lang="zh-CN" altLang="en-US" i="1" dirty="0">
                <a:solidFill>
                  <a:srgbClr val="A62038"/>
                </a:solidFill>
                <a:sym typeface="+mn-ea"/>
              </a:rPr>
              <a:t>合理安排时间！！合理安排时间！！</a:t>
            </a:r>
            <a:endParaRPr lang="zh-CN" altLang="en-US" b="0" i="1" dirty="0">
              <a:solidFill>
                <a:srgbClr val="A62038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595160" y="2667000"/>
            <a:ext cx="7054894" cy="1066800"/>
          </a:xfrm>
        </p:spPr>
        <p:txBody>
          <a:bodyPr/>
          <a:lstStyle/>
          <a:p>
            <a:pPr algn="ctr"/>
            <a:r>
              <a:rPr lang="zh-CN" altLang="en-US" sz="6600" dirty="0"/>
              <a:t>感谢您的关注</a:t>
            </a:r>
            <a:endParaRPr lang="en-US" altLang="zh-CN" sz="6600" dirty="0"/>
          </a:p>
          <a:p>
            <a:pPr algn="ctr"/>
            <a:r>
              <a:rPr lang="en-US" altLang="zh-CN" sz="3600" b="0" dirty="0"/>
              <a:t>THANK YOU</a:t>
            </a:r>
            <a:endParaRPr lang="zh-CN" altLang="en-US" sz="36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2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3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4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5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6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7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8.xml><?xml version="1.0" encoding="utf-8"?>
<p:tagLst xmlns:p="http://schemas.openxmlformats.org/presentationml/2006/main">
  <p:tag name="KSO_WM_DIAGRAM_VIRTUALLY_FRAME" val="{&quot;height&quot;:409.5500787401575,&quot;left&quot;:389.3381889763779,&quot;top&quot;:74.76307086614173,&quot;width&quot;:474.1460629921261}"/>
</p:tagLst>
</file>

<file path=ppt/tags/tag9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0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1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2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3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4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5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6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7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8.xml><?xml version="1.0" encoding="utf-8"?>
<p:tagLst xmlns:p="http://schemas.openxmlformats.org/presentationml/2006/main">
  <p:tag name="KSO_WM_DIAGRAM_VIRTUALLY_FRAME" val="{&quot;height&quot;:164.75,&quot;left&quot;:616.95,&quot;top&quot;:308.65,&quot;width&quot;:253.75}"/>
</p:tagLst>
</file>

<file path=ppt/tags/tag19.xml><?xml version="1.0" encoding="utf-8"?>
<p:tagLst xmlns:p="http://schemas.openxmlformats.org/presentationml/2006/main">
  <p:tag name="TABLE_ENDDRAG_ORIGIN_RECT" val="774*180"/>
  <p:tag name="TABLE_ENDDRAG_RECT" val="80*312*774*180"/>
</p:tagLst>
</file>

<file path=ppt/tags/tag20.xml><?xml version="1.0" encoding="utf-8"?>
<p:tagLst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赤霞朱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4852</Words>
  <Application>WPS 演示</Application>
  <PresentationFormat>宽屏</PresentationFormat>
  <Paragraphs>413</Paragraphs>
  <Slides>24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</vt:lpstr>
      <vt:lpstr>Wingdings</vt:lpstr>
      <vt:lpstr>Cascadia Code</vt:lpstr>
      <vt:lpstr>Arial Unicode MS</vt:lpstr>
      <vt:lpstr>等线</vt:lpstr>
      <vt:lpstr>赤霞朱主题​​</vt:lpstr>
      <vt:lpstr>Gitlite-2026</vt:lpstr>
      <vt:lpstr>PowerPoint 演示文稿</vt:lpstr>
      <vt:lpstr>PowerPoint 演示文稿</vt:lpstr>
      <vt:lpstr>什么是提交？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什么是分支？</vt:lpstr>
      <vt:lpstr>PowerPoint 演示文稿</vt:lpstr>
      <vt:lpstr>PowerPoint 演示文稿</vt:lpstr>
      <vt:lpstr>PowerPoint 演示文稿</vt:lpstr>
      <vt:lpstr>PowerPoint 演示文稿</vt:lpstr>
      <vt:lpstr>什么是文件区？</vt:lpstr>
      <vt:lpstr>PowerPoint 演示文稿</vt:lpstr>
      <vt:lpstr>PowerPoint 演示文稿</vt:lpstr>
      <vt:lpstr>Gitlite 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徐臻</dc:creator>
  <cp:keywords>2021模板</cp:keywords>
  <cp:lastModifiedBy>林函锋</cp:lastModifiedBy>
  <cp:revision>349</cp:revision>
  <dcterms:created xsi:type="dcterms:W3CDTF">2019-01-23T14:14:00Z</dcterms:created>
  <dcterms:modified xsi:type="dcterms:W3CDTF">2026-10-14T11:58:07Z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31953A387C4B43CD94B91FAA67A16614_12</vt:lpwstr>
  </property>
  <property fmtid="{D5CDD505-2E9C-101B-9397-08002B2CF9AE}" pid="12" name="KSOProductBuildVer">
    <vt:lpwstr>2052-12.1.0.28043</vt:lpwstr>
  </property>
</Properties>
</file>